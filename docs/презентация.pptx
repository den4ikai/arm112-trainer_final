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  <p:sldId id="385" r:id="rId54"/>
    <p:sldId id="386" r:id="rId55"/>
    <p:sldId id="387" r:id="rId56"/>
    <p:sldId id="388" r:id="rId57"/>
    <p:sldId id="389" r:id="rId58"/>
    <p:sldId id="390" r:id="rId59"/>
    <p:sldId id="391" r:id="rId60"/>
    <p:sldId id="392" r:id="rId61"/>
    <p:sldId id="393" r:id="rId62"/>
    <p:sldId id="394" r:id="rId63"/>
    <p:sldId id="395" r:id="rId64"/>
    <p:sldId id="396" r:id="rId65"/>
    <p:sldId id="397" r:id="rId6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7.jpg"/><Relationship Id="rId5" Type="http://schemas.openxmlformats.org/officeDocument/2006/relationships/image" Target="../media/image82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0.png"/><Relationship Id="rId3" Type="http://schemas.openxmlformats.org/officeDocument/2006/relationships/image" Target="../media/image8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2.png"/><Relationship Id="rId3" Type="http://schemas.openxmlformats.org/officeDocument/2006/relationships/image" Target="../media/image83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8.png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1.png"/><Relationship Id="rId3" Type="http://schemas.openxmlformats.org/officeDocument/2006/relationships/image" Target="../media/image84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4.png"/><Relationship Id="rId3" Type="http://schemas.openxmlformats.org/officeDocument/2006/relationships/image" Target="../media/image84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Тренажёр оператора ДДС и АРМ-112 с ИИ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475579"/>
            <a:ext cx="5193299" cy="791032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№9 · Департамент ГОЧСиПБ города Москвы</a:t>
            </a:r>
          </a:p>
          <a:p>
            <a:pPr indent="268288"/>
            <a:r>
              <a:t>Команда ELABS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200">
                <a:solidFill>
                  <a:schemeClr val="tx1"/>
                </a:solidFill>
              </a:rPr>
              <a:t>Нейросеть сверяет сказанное заявителем с тем, что курсант записал в карточку, и объясняет ошибки цитатами, которые проверяет код. Прогноз и рекомендации сверяются с фактом.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Денис Петров, ML-инженер: синтез и распознавание речи, LLM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дружим со школы, с пятого класса; объединили опыт в речевых технологиях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студенты 1 курса МТИ и МАИ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dirty="0">
                <a:solidFill>
                  <a:schemeClr val="tx1"/>
                </a:solidFill>
              </a:rPr>
              <a:t>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200">
                <a:solidFill>
                  <a:schemeClr val="tx1"/>
                </a:solidFill>
              </a:rPr>
              <a:t>Веб-тренажёр в знакомом оператору интерфейсе: оператор 112 принимает учебный вызов и заполняет карточку, диспетчер ДДС ведёт реагирование бригады. Эталон считает классификатор ЕКП; нейросети, голос и проверка текста работают локально, в закрытом контуре.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Picture 18" descr="team-both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749" y="335267"/>
            <a:ext cx="6438865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0937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28165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Фуллстек-разработчик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Telegram: @Angel3044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+7 914 883-66-57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МАИ, 1 курс, ТОП-ИТ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28165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Александр Головченко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0405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976337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ML-инженер: синтез и распознавание речи, LLM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Telegram: @bceloss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+7 901 664-73-53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МТИ, 1 курс, «Информационные системы и технологии»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397633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Денис Петров</a:t>
            </a:r>
          </a:p>
        </p:txBody>
      </p:sp>
      <p:pic>
        <p:nvPicPr>
          <p:cNvPr id="59" name="Picture 58" descr="team-denis.jpg"/>
          <p:cNvPicPr>
            <a:picLocks noChangeAspect="1"/>
          </p:cNvPicPr>
          <p:nvPr/>
        </p:nvPicPr>
        <p:blipFill>
          <a:blip r:embed="rId4"/>
          <a:srcRect b="9850"/>
          <a:stretch>
            <a:fillRect/>
          </a:stretch>
        </p:blipFill>
        <p:spPr>
          <a:xfrm>
            <a:off x="4039374" y="1816054"/>
            <a:ext cx="1722566" cy="1552901"/>
          </a:xfrm>
          <a:prstGeom prst="rect">
            <a:avLst/>
          </a:prstGeom>
        </p:spPr>
      </p:pic>
      <p:pic>
        <p:nvPicPr>
          <p:cNvPr id="60" name="Picture 59" descr="team-sasha.jpg"/>
          <p:cNvPicPr>
            <a:picLocks noChangeAspect="1"/>
          </p:cNvPicPr>
          <p:nvPr/>
        </p:nvPicPr>
        <p:blipFill>
          <a:blip r:embed="rId5"/>
          <a:srcRect b="33107"/>
          <a:stretch>
            <a:fillRect/>
          </a:stretch>
        </p:blipFill>
        <p:spPr>
          <a:xfrm>
            <a:off x="6344444" y="1826554"/>
            <a:ext cx="1722566" cy="154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Дружим со школы, с пятого класса. Денис несколько лет занимается синтезом речи и аудиокодеками: собрал открытый русскоязычный речевой корпус ESpeech и выводил TTS в прод для голосового агента.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Реалистичный голос в реальном времени без GPU — обучили облегчённую модель синтеза под CPU; в llama.cpp добавили MTP для GigaChat 3.1 (+44 % скорости). Нормативы ДДС уточнились за два дня до сдачи, и мы перестроили отсчёт времени и поток карточек.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Совмещали с учёбой и работой: всё делали вечерами и в дороге.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Объединить опыт в речевых технологиях и сделать продукт, который реально можно поставить на обычное железо.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300" dirty="0">
                <a:solidFill>
                  <a:schemeClr val="tx1"/>
                </a:solidFill>
              </a:rPr>
              <a:t>Сервер на Rust (axum) и PostgreSQL, клиент на React; закрытый контур, развёртывание одной командой.</a:t>
            </a:r>
          </a:p>
          <a:p>
            <a:r>
              <a:rPr lang="ru-RU" sz="1300" dirty="0">
                <a:solidFill>
                  <a:schemeClr val="tx1"/>
                </a:solidFill>
              </a:rPr>
              <a:t>Эталон считается детерминированно по классификатору ЕКП (1 283 позиции).</a:t>
            </a:r>
          </a:p>
          <a:p>
            <a:r>
              <a:rPr lang="ru-RU" sz="1300" dirty="0">
                <a:solidFill>
                  <a:schemeClr val="tx1"/>
                </a:solidFill>
              </a:rPr>
              <a:t>Нейросетевая оценка: сказанное заявителем против заполненного, каждое замечание с цитатой, которую проверяет код.</a:t>
            </a:r>
          </a:p>
          <a:p>
            <a:r>
              <a:rPr lang="ru-RU" sz="1300" dirty="0">
                <a:solidFill>
                  <a:schemeClr val="tx1"/>
                </a:solidFill>
              </a:rPr>
              <a:t>ДДС: поток карточек, нормативы 30 с и 3 мин, бригада, голос со старшим и начальником.</a:t>
            </a:r>
          </a:p>
          <a:p>
            <a:r>
              <a:rPr lang="ru-RU" sz="1300" dirty="0">
                <a:solidFill>
                  <a:schemeClr val="tx1"/>
                </a:solidFill>
              </a:rPr>
              <a:t>Два профиля моделей: на CPU GigaChat 3.1 и кросс-энкодер, на GPU Gemma 4; адрес модели задаётся одной переменной.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300" dirty="0">
                <a:solidFill>
                  <a:schemeClr val="tx1"/>
                </a:solidFill>
              </a:rPr>
              <a:t>Для учебного центра: подготовка операторов 112 и ДДС в знакомом им интерфейсе, на отдельном стенде.</a:t>
            </a:r>
          </a:p>
          <a:p>
            <a:r>
              <a:rPr lang="ru-RU" sz="1300" dirty="0">
                <a:solidFill>
                  <a:schemeClr val="tx1"/>
                </a:solidFill>
              </a:rPr>
              <a:t>Преподаватель готовит вызовы с моделью, проводит занятия, экзамены и блицы, ставит экспертную оценку.</a:t>
            </a:r>
          </a:p>
          <a:p>
            <a:r>
              <a:rPr lang="ru-RU" sz="1300" dirty="0">
                <a:solidFill>
                  <a:schemeClr val="tx1"/>
                </a:solidFill>
              </a:rPr>
              <a:t>Аналитика группы: ошибки, прогноз результата и рекомендации, каждое сверено с фактом и базовой линией.</a:t>
            </a:r>
          </a:p>
          <a:p>
            <a:r>
              <a:rPr lang="ru-RU" sz="1300" dirty="0">
                <a:solidFill>
                  <a:schemeClr val="tx1"/>
                </a:solidFill>
              </a:rPr>
              <a:t>Развитие: подбор служб по территории, SIP-телефония.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61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ЧТО УМЕЕТ ТРЕНАЖЁР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090000"/>
          <a:ext cx="11500000" cy="5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00000"/>
                <a:gridCol w="5000000"/>
                <a:gridCol w="800000"/>
              </a:tblGrid>
              <a:tr h="22800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Возможность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Чем подтверждено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Слайд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Нейросетевая оценка: сказанное заявителем против заполненного в карточке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94 % на 66 парах, каждое замечание с цитатой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Знакомый оператору интерфейс: карточка, реестр, справочники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211 служб, 51 тип, сравнение экранов с образцами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Две роли: оператор 112 и диспетчер ДДС, у каждого только своё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разделы и лента только своей роли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ДДС: поток карточек, нормативы 30 с и 3 мин, статусы, бригада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7 статусов, отказ только с причиной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Голос: доклад начальнику и разговор со старшим бригады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распознавание 0,2–0,3 с, озвучка 0,5–0,7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Разговор с заявителем своими словами, голосом или текстом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понято 27 из 27 вопросов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12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 результата и его проверка по факту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110 прогнозов на группе ИИ-агентов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 и проверка их исполнения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412 рекомендаций, 372 проверены следующим вызовом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Учебный материал и занятия: вызовы, экзамены, блицы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черновик пишет модель, эталон служб считает ЕКП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Ход занятия по местам в реальном времени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обновление каждые 2,5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Веса оценки с пересчётом и журналом действий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7 групп проверок, «было → стало» до сохранения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18 настраиваемых параметров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пределы проверяет сервер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Аналитика по группе и по ученику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только сданные попытки, доли с числителем и знаменателем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Полный контроль преподавателя: автоматическая и экспертная оценка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замечания нейросети подтвердить или отклонить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Закрытый контур: все модели локально, два профиля железа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адрес каждой модели задаётся одной переменной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Скорость работы на CPU и GPU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p99 0,27 с при 100 пользователях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22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Нефункциональные требования: 100 пользователей, 20 сессий, сбой сети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50 и 80 вызовов разом, все дошли до разбора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Интеграция: открытый API, модели по стандарту, выгрузка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REST, 92 операции, описание OpenAPI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Качество кода и документация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400 серверных проверок, 102 сценария в браузере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Развитие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что делаем дальше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Проверить самим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ссылки и учётные записи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5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НЕЙРОСЕТЕВАЯ ОЦЕНКА: СКАЗАННОЕ ПРОТИВ ЗАПОЛНЕННОГО</a:t>
            </a:r>
          </a:p>
        </p:txBody>
      </p:sp>
      <p:pic>
        <p:nvPicPr>
          <p:cNvPr id="3" name="Picture 2" descr="p08-экспертная-оценка.png"/>
          <p:cNvPicPr>
            <a:picLocks noChangeAspect="1"/>
          </p:cNvPicPr>
          <p:nvPr/>
        </p:nvPicPr>
        <p:blipFill>
          <a:blip r:embed="rId2"/>
          <a:srcRect l="400" t="31500" r="52500" b="10500"/>
          <a:stretch>
            <a:fillRect/>
          </a:stretch>
        </p:blipFill>
        <p:spPr>
          <a:xfrm>
            <a:off x="346075" y="1443073"/>
            <a:ext cx="6300000" cy="436385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6896075" y="1150000"/>
            <a:ext cx="4950000" cy="11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6075" y="126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проверяется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6075" y="1640000"/>
            <a:ext cx="46500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Всё, что заявитель сказал голосом, против того, что курсант записал в карточку и какие службы выбрал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96075" y="2380000"/>
            <a:ext cx="4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6075" y="249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6075" y="2870000"/>
            <a:ext cx="4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Правила: у каждого факта сценария отметка «выяснил» или «угадал»; службы сверяются с классификатором ЕКП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Нейросеть читает описание курсанта против реплик заявителя: упущено, противоречит, добавлено от себя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Цитату каждого замечания проверяет код, выдуманная отбрасывается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Преподаватель подтверждает замечания и ставит экспертную оценку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96075" y="4630000"/>
            <a:ext cx="4950000" cy="147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6075" y="474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Проверено на 66 парах «описание и факт»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6075" y="5120000"/>
            <a:ext cx="465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GPU, Gemma 4: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94 %, 0,45 с на описание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CPU, кросс-энкодер OpenJEV 4B: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91 %, 4,9 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для сравнения GigaChat: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73 %, не видит упущенного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4423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ИНТЕРФЕЙС: ЗНАКОМАЯ ОПЕРАТОРУ РАСКЛАДКА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Карточка ДДС в тренажёре</a:t>
            </a:r>
          </a:p>
        </p:txBody>
      </p:sp>
      <p:pic>
        <p:nvPicPr>
          <p:cNvPr id="4" name="Picture 3" descr="сравнение-карточка-ддс.png"/>
          <p:cNvPicPr>
            <a:picLocks noChangeAspect="1"/>
          </p:cNvPicPr>
          <p:nvPr/>
        </p:nvPicPr>
        <p:blipFill>
          <a:blip r:embed="rId2"/>
          <a:srcRect l="50500" t="7000"/>
          <a:stretch>
            <a:fillRect/>
          </a:stretch>
        </p:blipFill>
        <p:spPr>
          <a:xfrm>
            <a:off x="1997354" y="1470000"/>
            <a:ext cx="3997441" cy="22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46075" y="382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Реестр происшествий в тренажёре</a:t>
            </a:r>
          </a:p>
        </p:txBody>
      </p:sp>
      <p:pic>
        <p:nvPicPr>
          <p:cNvPr id="6" name="Picture 5" descr="сравнение-журнал.png"/>
          <p:cNvPicPr>
            <a:picLocks noChangeAspect="1"/>
          </p:cNvPicPr>
          <p:nvPr/>
        </p:nvPicPr>
        <p:blipFill>
          <a:blip r:embed="rId3"/>
          <a:srcRect l="50500" t="7000"/>
          <a:stretch>
            <a:fillRect/>
          </a:stretch>
        </p:blipFill>
        <p:spPr>
          <a:xfrm>
            <a:off x="1997354" y="4140000"/>
            <a:ext cx="3997441" cy="22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896075" y="1150000"/>
            <a:ext cx="395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Зачем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075" y="1640000"/>
            <a:ext cx="3650000" cy="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Оператор учится на тех же экранах, с которыми будет работать: ничему не придётся переучиваться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96075" y="2450000"/>
            <a:ext cx="3950000" cy="36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075" y="25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075" y="2940000"/>
            <a:ext cx="3650000" cy="30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Журнал, карточка 112 и карточка ДДС повторяют привычную раскладку: сетка, цвета, полосы служб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 же справочники: 211 служб в окне «Добавьте службы», 51 тип «что случилось?» в привычном написании и порядке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Каждый экран сравнён с образцом, сравнения приложены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Узкий экран без горизонтальной прокрутки, проверяется автотестом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852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ДВЕ РОЛИ: У КАЖДОГО ТОЛЬКО СВОЁ</a:t>
            </a:r>
          </a:p>
        </p:txBody>
      </p:sp>
      <p:pic>
        <p:nvPicPr>
          <p:cNvPr id="3" name="Picture 2" descr="16-разделы-112.png"/>
          <p:cNvPicPr>
            <a:picLocks noChangeAspect="1"/>
          </p:cNvPicPr>
          <p:nvPr/>
        </p:nvPicPr>
        <p:blipFill>
          <a:blip r:embed="rId2"/>
          <a:srcRect b="54000"/>
          <a:stretch>
            <a:fillRect/>
          </a:stretch>
        </p:blipFill>
        <p:spPr>
          <a:xfrm>
            <a:off x="346075" y="1547266"/>
            <a:ext cx="5625000" cy="1455468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343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Оператор 112: разделы выданного, статус и балл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3800000"/>
            <a:ext cx="5625000" cy="2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6075" y="39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Оператор 112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6075" y="4290000"/>
            <a:ext cx="5325000" cy="1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Три раздела: «Учебные вызовы», «Экзамены», «Тренировка по частям». Видно только то, что выдал преподаватель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Карточка 112: несколько типов происшествия, все уровни признаков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Законченное открывается только на разбор, пройти заново нельзя</a:t>
            </a:r>
          </a:p>
        </p:txBody>
      </p:sp>
      <p:pic>
        <p:nvPicPr>
          <p:cNvPr id="8" name="Picture 7" descr="17-разделы-ддс.png"/>
          <p:cNvPicPr>
            <a:picLocks noChangeAspect="1"/>
          </p:cNvPicPr>
          <p:nvPr/>
        </p:nvPicPr>
        <p:blipFill>
          <a:blip r:embed="rId3"/>
          <a:srcRect b="37000"/>
          <a:stretch>
            <a:fillRect/>
          </a:stretch>
        </p:blipFill>
        <p:spPr>
          <a:xfrm>
            <a:off x="6221075" y="1278320"/>
            <a:ext cx="5625000" cy="199335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21075" y="343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Диспетчер ДДС: те же разделы и лента своей службы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1075" y="3800000"/>
            <a:ext cx="5625000" cy="2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1075" y="39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Диспетчер ДДС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1075" y="4290000"/>
            <a:ext cx="5325000" cy="1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 ленте только учебные происшествия от преподавателя: карточки курсантов 112 к ДДС не попадают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Статусы, бригада, доклады старшего и начальнику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Приём вызова и карточка 112 диспетчеру недоступны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852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ДДС: НОРМАТИВЫ И ПОТОК КАРТОЧЕК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от появления карточки в списке до её открытия: отметка «Получена службой»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1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71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1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первую запись: статус и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поток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карточки приходят, пока диспетчер занят; у ожидающих идёт своё время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1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1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1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статусов: принята, не принята, начало реагирования, прибытие, работы, завершение, отказ. Отказ только с причиной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3950000"/>
            <a:ext cx="5900000" cy="2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4060000"/>
            <a:ext cx="56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Бригада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4440000"/>
            <a:ext cx="5600000" cy="1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Бригаду диспетчер выбирает вручную, службы в карточку ДДС не добавляет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Старший докладывает сам, или диспетчер звонит ему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Статус засчитывается, только если поставлен по факту доклада</a:t>
            </a:r>
          </a:p>
        </p:txBody>
      </p:sp>
      <p:pic>
        <p:nvPicPr>
          <p:cNvPr id="18" name="Picture 17" descr="p15-ддс-бригада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96075" y="1678180"/>
            <a:ext cx="5350000" cy="124364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496075" y="3480000"/>
            <a:ext cx="53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Панель бригады: доклад старшего, звонок, разбор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6075" y="3950000"/>
            <a:ext cx="5350000" cy="2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6075" y="4060000"/>
            <a:ext cx="50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Разбор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6075" y="4440000"/>
            <a:ext cx="5050000" cy="1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Открыто ли вовремя, когда сделана первая запись, верны ли статусы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У каждой ошибки своя цена в баллах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Карточки в очереди ждут со своим таймером, как в реальной смене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00" b="1">
                <a:solidFill>
                  <a:srgbClr val="FFFFFF"/>
                </a:solidFill>
                <a:latin typeface="Montserrat"/>
              </a:rPr>
              <a:t>ГОЛОС: СТАРШИЙ БРИГАДЫ И НАЧАЛЬНИК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F3F0FF"/>
                </a:solidFill>
                <a:latin typeface="Montserrat"/>
              </a:rPr>
              <a:t>Диспетчер докладывает начальнику и говорит со старшим бригады голосом. Телефон не нужен: программная эмуляция связи, всё работает на процессоре внутри контура.</a:t>
            </a:r>
          </a:p>
        </p:txBody>
      </p:sp>
      <p:pic>
        <p:nvPicPr>
          <p:cNvPr id="4" name="Picture 3" descr="p16-доклад-начальнику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2690132"/>
            <a:ext cx="6300000" cy="1519736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46075" y="4830000"/>
            <a:ext cx="6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Доклад начальнику: вопросы по недоложенному, кнопка «Голосом», затем разбор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96075" y="2100000"/>
            <a:ext cx="4950000" cy="1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6075" y="221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6075" y="2590000"/>
            <a:ext cx="4650000" cy="1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Речь курсанта распознаёт GigaAM-v3, ответы озвучивает TeraTTSv2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Всё локально, на процессоре; SIP не требуется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Начальник спрашивает только о том, что есть в карточке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9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0,2–0,3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распознать фразу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4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0,5–0,7 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9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озвучить фразу доклада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30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3F0FF"/>
                </a:solidFill>
                <a:latin typeface="Montserrat"/>
              </a:rPr>
              <a:t>Разбор доклада начальнику: </a:t>
            </a:r>
            <a:r>
              <a:rPr sz="1150" b="0">
                <a:solidFill>
                  <a:srgbClr val="F3F0FF"/>
                </a:solidFill>
                <a:latin typeface="Montserrat"/>
              </a:rPr>
              <a:t>что доложено, что нет, что неверно. Каждое замечание с цитатой, которую проверяет код; на GPU разбор занимает 1,3 с.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983529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Montserrat"/>
              </a:rPr>
              <a:t>РАЗГОВОР С ЗАЯВИТЕЛЕМ СВОИМИ СЛОВАМИ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76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3F0FF"/>
                </a:solidFill>
                <a:latin typeface="Montserrat"/>
              </a:rPr>
              <a:t>Курсант спрашивает заявителя своими словами, голосом или текстом, и слышит ответ. Сценарий не ограничен готовыми вопросами: тренировка ближе к живому разговору.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Вопрос своими словами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Голосом или текстом, как в живом разговоре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Модель выбирает факт из закрытого списка сценария, выдумать нечего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Понято 27 из 27 вопросов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Бессмысленные отсеяны: CPU 5 из 7 за 1,7 с, GPU 7 из 7 за 0,13 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Заявитель отвечает голосом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Мужской или женский голос, по отчеству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На GPU реплику пишет модель: 16 из 19 живые, 0,5 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Реплику проверяют код и вторая модель; не прошла, звучит фраза сценария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Отметка «выяснил / угадал» от генерации не зависит</a:t>
            </a:r>
          </a:p>
        </p:txBody>
      </p:sp>
      <p:pic>
        <p:nvPicPr>
          <p:cNvPr id="10" name="Picture 9" descr="p14-заявитель-своими-словам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08575" y="1150000"/>
            <a:ext cx="2975000" cy="49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905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50" b="1">
                <a:solidFill>
                  <a:srgbClr val="FFFFFF"/>
                </a:solidFill>
                <a:latin typeface="Montserrat"/>
              </a:rPr>
              <a:t>ПРОГНОЗ РЕЗУЛЬТАТА И ЕГО ПРОВЕРКА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Прогноз балла фиксируется до начала вызова, задним числом не правится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Факт появляется после разбора; рядом базовая линия: средний балл курсанта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Модель: гребневая регрессия по истории курсанта. Объяснима и не переобучается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10,7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средняя ошибка прогноза, баллов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10,9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ошибка базовой линии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прогнозов в допуске ±10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3F0FF"/>
                </a:solidFill>
                <a:latin typeface="Montserrat"/>
              </a:rPr>
              <a:t>Проверено на группе ИИ-агентов: </a:t>
            </a:r>
            <a:r>
              <a:rPr sz="1150" b="0">
                <a:solidFill>
                  <a:srgbClr val="F3F0FF"/>
                </a:solidFill>
                <a:latin typeface="Montserrat"/>
              </a:rPr>
              <a:t>10 курсантов-агентов прошли вызовы через API, 110 прогнозов сверены с фактом. Механизм работает: прогноз, факт и базовая линия считаются и сходятся по всей истории.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400" b="84000"/>
          <a:stretch>
            <a:fillRect/>
          </a:stretch>
        </p:blipFill>
        <p:spPr>
          <a:xfrm>
            <a:off x="346075" y="5214500"/>
            <a:ext cx="11500000" cy="62099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3F0FF"/>
                </a:solidFill>
                <a:latin typeface="Montserrat"/>
              </a:rPr>
              <a:t>На снимке ниже: </a:t>
            </a:r>
            <a:r>
              <a:rPr sz="1150" b="0">
                <a:solidFill>
                  <a:srgbClr val="F3F0FF"/>
                </a:solidFill>
                <a:latin typeface="Montserrat"/>
              </a:rPr>
              <a:t>блок «Прогноз и факт» в аналитике преподавателя. Прогноз, факт и базовая линия всегда рядом, и экран сам подсказывает, когда данных ещё мало. С историей реальных курсантов прогноз становится точнее.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35294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Montserrat"/>
              </a:rPr>
              <a:t>РЕКОМЕНДАЦИИ И ПРОВЕРКА ИХ ИСПОЛНЕНИЯ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Рекомендация выдаётся, когда ошибка повторилась. Текст берётся из замечаний разбора, модель его не пишет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Фиксируется со временем; следующий разбор ставит вердикт: ушла ошибка или нет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Рядом базовая линия: как часто та же ошибка уходит сама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рекомендаций выдано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372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проверено следующим вызовом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40 %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из проверенных сработали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3F0FF"/>
                </a:solidFill>
                <a:latin typeface="Montserrat"/>
              </a:rPr>
              <a:t>Проверено на группе ИИ-агентов: </a:t>
            </a:r>
            <a:r>
              <a:rPr sz="1150" b="0">
                <a:solidFill>
                  <a:srgbClr val="F3F0FF"/>
                </a:solidFill>
                <a:latin typeface="Montserrat"/>
              </a:rPr>
              <a:t>те же 10 курсантов-агентов, 412 рекомендаций. Каждая привязана к вызову и ко времени, у 372 есть вердикт по следующему вызову.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0000" b="30000"/>
          <a:stretch>
            <a:fillRect/>
          </a:stretch>
        </p:blipFill>
        <p:spPr>
          <a:xfrm>
            <a:off x="346075" y="5201562"/>
            <a:ext cx="11500000" cy="646875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3F0FF"/>
                </a:solidFill>
                <a:latin typeface="Montserrat"/>
              </a:rPr>
              <a:t>На снимке ниже: </a:t>
            </a:r>
            <a:r>
              <a:rPr sz="1150" b="0">
                <a:solidFill>
                  <a:srgbClr val="F3F0FF"/>
                </a:solidFill>
                <a:latin typeface="Montserrat"/>
              </a:rPr>
              <a:t>блок «Рекомендации и их исполнение». Доля сработавших показана рядом с базовой линией, поэтому преподаватель видит, какие рекомендации действительно помогают группе.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905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50" b="1">
                <a:solidFill>
                  <a:srgbClr val="FFFFFF"/>
                </a:solidFill>
                <a:latin typeface="Montserrat"/>
              </a:rPr>
              <a:t>ПРЕПОДАВАТЕЛЬ: МАТЕРИАЛ И ЗАНЯТИЕ</a:t>
            </a:r>
          </a:p>
        </p:txBody>
      </p:sp>
      <p:pic>
        <p:nvPicPr>
          <p:cNvPr id="3" name="Picture 2" descr="material-03-по-описанию.png"/>
          <p:cNvPicPr>
            <a:picLocks noChangeAspect="1"/>
          </p:cNvPicPr>
          <p:nvPr/>
        </p:nvPicPr>
        <p:blipFill>
          <a:blip r:embed="rId2"/>
          <a:srcRect l="20000" t="10000" r="35000" b="52000"/>
          <a:stretch>
            <a:fillRect/>
          </a:stretch>
        </p:blipFill>
        <p:spPr>
          <a:xfrm>
            <a:off x="346075" y="1313333"/>
            <a:ext cx="3733333" cy="177333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1. По описанию: черновик пишет модель</a:t>
            </a:r>
          </a:p>
        </p:txBody>
      </p:sp>
      <p:pic>
        <p:nvPicPr>
          <p:cNvPr id="5" name="Picture 4" descr="material-02-вызов-вручную.png"/>
          <p:cNvPicPr>
            <a:picLocks noChangeAspect="1"/>
          </p:cNvPicPr>
          <p:nvPr/>
        </p:nvPicPr>
        <p:blipFill>
          <a:blip r:embed="rId3"/>
          <a:srcRect l="20000" r="20000" b="43000"/>
          <a:stretch>
            <a:fillRect/>
          </a:stretch>
        </p:blipFill>
        <p:spPr>
          <a:xfrm>
            <a:off x="4229408" y="1202500"/>
            <a:ext cx="3733333" cy="199499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229408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…или вручную, в той же карточке 112</a:t>
            </a:r>
          </a:p>
        </p:txBody>
      </p:sp>
      <p:pic>
        <p:nvPicPr>
          <p:cNvPr id="7" name="Picture 6" descr="material-05-занятие-выбор.png"/>
          <p:cNvPicPr>
            <a:picLocks noChangeAspect="1"/>
          </p:cNvPicPr>
          <p:nvPr/>
        </p:nvPicPr>
        <p:blipFill>
          <a:blip r:embed="rId4"/>
          <a:srcRect t="3000" r="74000" b="25000"/>
          <a:stretch>
            <a:fillRect/>
          </a:stretch>
        </p:blipFill>
        <p:spPr>
          <a:xfrm>
            <a:off x="9305333" y="1150000"/>
            <a:ext cx="1348148" cy="21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112741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2. Занятие: материал поимённо, по порядку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700000"/>
            <a:ext cx="5625000" cy="2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38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Учебный материал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4190000"/>
            <a:ext cx="5325000" cy="1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Вызовы 112 и происшествия ДДС: по описанию моделью или вручную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Эталон служб считает классификатор ЕКП, а не модель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Правка перепиской с моделью или руками; курсантам уходит только утверждённое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Выданное не правится, оценки курсантов не «поедут»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1075" y="3700000"/>
            <a:ext cx="5625000" cy="2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1075" y="38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Занятие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1075" y="4190000"/>
            <a:ext cx="5325000" cy="1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Группа, режим 112 или ДДС и вид: обычное занятие, экзамен (5–10 вызовов подряд) или блиц — тренировка по частям карточки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Материал поимённо и по порядку, или по категориям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Пока занятие не начато, курсанты его не видят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Учебный набор: 20 вызовов, 20 происшествий, по 2 экзамена и 2 блица на роль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132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ХОД ЗАНЯТИЯ ПО МЕСТАМ</a:t>
            </a:r>
          </a:p>
        </p:txBody>
      </p:sp>
      <p:pic>
        <p:nvPicPr>
          <p:cNvPr id="3" name="Picture 2" descr="01-ход-занятия.png"/>
          <p:cNvPicPr>
            <a:picLocks noChangeAspect="1"/>
          </p:cNvPicPr>
          <p:nvPr/>
        </p:nvPicPr>
        <p:blipFill>
          <a:blip r:embed="rId2"/>
          <a:srcRect b="40000"/>
          <a:stretch>
            <a:fillRect/>
          </a:stretch>
        </p:blipFill>
        <p:spPr>
          <a:xfrm>
            <a:off x="346075" y="1243125"/>
            <a:ext cx="7300000" cy="24637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pic>
        <p:nvPicPr>
          <p:cNvPr id="4" name="Picture 3" descr="01б-ход-занятия-ддс.png"/>
          <p:cNvPicPr>
            <a:picLocks noChangeAspect="1"/>
          </p:cNvPicPr>
          <p:nvPr/>
        </p:nvPicPr>
        <p:blipFill>
          <a:blip r:embed="rId3"/>
          <a:srcRect t="27000" b="38000"/>
          <a:stretch>
            <a:fillRect/>
          </a:stretch>
        </p:blipFill>
        <p:spPr>
          <a:xfrm>
            <a:off x="346075" y="4331406"/>
            <a:ext cx="7300000" cy="1437187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Rounded Rectangle 4"/>
          <p:cNvSpPr/>
          <p:nvPr/>
        </p:nvSpPr>
        <p:spPr>
          <a:xfrm>
            <a:off x="7896075" y="1150000"/>
            <a:ext cx="3950000" cy="3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видит преподаватель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075" y="1640000"/>
            <a:ext cx="3650000" cy="2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Место и курсант: текущая карточка, таймер против норматива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112: что уже заполнено — заявитель, адрес, тип, опросная карта, службы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ДДС: служба, очередь, статус, «не оповещено»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Опоздавшие красным, счётчики по занятию сверху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Блоки 112 и ДДС раздельно; есть режим проектора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96075" y="4500000"/>
            <a:ext cx="3950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075" y="4590000"/>
            <a:ext cx="365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2,5 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075" y="5068790"/>
            <a:ext cx="3650000" cy="10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обновление без перезагрузки; последний балл на карточке места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ВЕСА ОЦЕНКИ: КРИТЕРИИ УСПЕШНОСТИ</a:t>
            </a:r>
          </a:p>
        </p:txBody>
      </p:sp>
      <p:pic>
        <p:nvPicPr>
          <p:cNvPr id="3" name="Picture 2" descr="02-веса-оценк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171875"/>
            <a:ext cx="7300000" cy="41062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7896075" y="1150000"/>
            <a:ext cx="3950000" cy="2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считается балл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075" y="1640000"/>
            <a:ext cx="3650000" cy="21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7 групп проверок: время, статусы, комментарии, адрес, тип и службы, полнота, текст; вес каждой от 0 до 5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Выяснил — 1, угадал — ⅔, пусто — ⅓, неверно — 0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Балл = Σ(вес × зачёт) / Σ вес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Похожая, но другая улица: не выше 40, бригада уедет не туда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96075" y="4050000"/>
            <a:ext cx="3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075" y="41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Прозрачно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075" y="4540000"/>
            <a:ext cx="3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Двигаете ползунок и до сохранения видите «было → стало» по каждому ученику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Сохранение пересчитывает сданные попытки и пишется в журнал действий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075" y="535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Адрес с весом 5, полнота с весом 4: средний балл по сданным попыткам пересчитан сразу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47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НАСТРАИВАЕМЫЕ ПАРАМЕТРЫ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20000"/>
          <a:ext cx="11500000" cy="4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4600000"/>
                <a:gridCol w="2500000"/>
                <a:gridCol w="2500000"/>
              </a:tblGrid>
              <a:tr h="29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Группа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Параметр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По умолчанию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Пределы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Нормативы ДДС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открыть карточку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первая запись (статус и текст)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 с – 60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перевод в «Не завершено»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48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1–720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Занятие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интервал потока карточек ДДС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60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10–900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экзамен; блиц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5–10 вызовов; 3–10 заданий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Бригада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число бригад службы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выезд, прибытие, начало работ, работы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20 / 40 / 20 / 60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5–3600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задержка доклада; статус после доклада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25 с; 30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0–3600; 5–600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допуск попадания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±10 баллов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1–30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глубина истории; регуляризация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5; 0,1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3–20; 0–10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окно разборов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2–20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Аттестация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порог прохождения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70 баллов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движок анализа текста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 / кросс-энкодер / LLM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выкл. на CPU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вкл. / выкл.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адреса моделей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локальные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ML_BASE_URL, VOICE_, NLI_BASE_URL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800000"/>
            <a:ext cx="115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3F0FF"/>
                </a:solidFill>
                <a:latin typeface="Montserrat"/>
              </a:rPr>
              <a:t>18 параметров лежат в таблице настроек, а не в коде; значение вне пределов сервер отклоняет. Администратор меняет их на вкладке «Параметры» или через API, каждое изменение попадает в журнал действий. Веса оценки задаёт преподаватель, слайд 17.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АНАЛИТИКА ПО ГРУППЕ И ПО УЧЕНИКУ</a:t>
            </a:r>
          </a:p>
        </p:txBody>
      </p:sp>
      <p:pic>
        <p:nvPicPr>
          <p:cNvPr id="3" name="Picture 2" descr="03-аналитика-группы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98753" y="1150000"/>
            <a:ext cx="5344644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4330000"/>
            <a:ext cx="56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Группа: лидеры и отстающие с причиной, типичные ошибки, тепловая карта</a:t>
            </a:r>
          </a:p>
        </p:txBody>
      </p:sp>
      <p:pic>
        <p:nvPicPr>
          <p:cNvPr id="5" name="Picture 4" descr="04-аналитика-ученика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221075" y="1150000"/>
            <a:ext cx="5600000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196075" y="4330000"/>
            <a:ext cx="56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Ученик: динамика балла, на чём ошибается, история попыток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4700000"/>
            <a:ext cx="56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6075" y="48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Почему диаграммам можно верить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6075" y="5190000"/>
            <a:ext cx="5350000" cy="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Строятся только из сданных попыток; «—» значит, что проверок не было, а не ноль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Доли показаны с числителем и знаменателем; в сводку модели идут готовые числа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075" y="4700000"/>
            <a:ext cx="56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6075" y="48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6075" y="5190000"/>
            <a:ext cx="5350000" cy="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Операторы 112 и диспетчеры ДДС отдельно; прогноз рядом с фактом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Тепловая карта ошибок по группе; у каждого ученика история попыток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508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ПОЛНЫЙ КОНТРОЛЬ ПРЕПОДАВАТЕЛЯ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Преподаватель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Всё, что делает курсант, выдаёт преподаватель: вызовы, происшествия, экзамены, блицы (слайд 15)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Ход занятия по местам в реальном времени (слайд 16)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Веса оценки и пересчёт (слайд 17); автоматическая и экспертная оценка рядом, замечания нейросети можно подтвердить или отклонить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Аналитика группы и ученика; назначение курсанта на рабочее место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1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1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Администратор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1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Учётные записи и рабочие места курсантов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Блокировка сразу отзывает вход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Удаление: сначала резервная копия, затем обезличивание; оценки остаются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Журнал действий, ежесуточные копии базы, состояние сервера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Экспертных оценок не ставит, это право преподавателя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20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F0FF"/>
                </a:solidFill>
                <a:latin typeface="Montserrat"/>
              </a:rPr>
              <a:t>Модель учится у преподавателя: </a:t>
            </a:r>
            <a:r>
              <a:rPr sz="1250" b="0">
                <a:solidFill>
                  <a:srgbClr val="F3F0FF"/>
                </a:solidFill>
                <a:latin typeface="Montserrat"/>
              </a:rPr>
              <a:t>все его поправки к замечаниям и сценариям идут в контекст модели при следующей подготовке материала.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68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ЗАКРЫТЫЙ КОНТУР И ЖЕЛЕЗО ИЗ ТЗ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3F0FF"/>
                </a:solidFill>
                <a:latin typeface="Montserrat"/>
              </a:rPr>
              <a:t>Все модели работают внутри контура, на сервере учебного центра. Адрес каждой модели задаётся одной переменной, поэтому её можно перенести на любую машину внутри сети.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46075" y="2100000"/>
          <a:ext cx="115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0000"/>
                <a:gridCol w="4200000"/>
                <a:gridCol w="4200000"/>
              </a:tblGrid>
              <a:tr h="44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CPU, как в ТЗ: i7/Xeon от 6 ядер, 32 ГБ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GPU, если есть видеокарта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Языковая модель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GigaChat 3.1 10B-A1.8B, llama.cpp + MTP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Gemma 4 26B-A4B, INT4, vLLM, одна RTX 4090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кросс-энкодер OpenJEV 4B, 91 %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Gemma 4, 94 %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Голос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GigaAM-v3 и TeraTTSv2 на процессоре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то же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выключены, чтобы не ждать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включены; реплика заявителя 0,5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46075" y="4550000"/>
            <a:ext cx="1150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Внешних обращений нет. </a:t>
            </a:r>
            <a:r>
              <a:rPr sz="1200" b="0">
                <a:solidFill>
                  <a:srgbClr val="F3F0FF"/>
                </a:solidFill>
                <a:latin typeface="Montserrat"/>
              </a:rPr>
              <a:t>Адреса моделей: ML_BASE_URL, VOICE_BASE_URL, NLI_BASE_URL.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Развёртывание одной командой: </a:t>
            </a:r>
            <a:r>
              <a:rPr sz="1200" b="0">
                <a:solidFill>
                  <a:srgbClr val="F3F0FF"/>
                </a:solidFill>
                <a:latin typeface="Montserrat"/>
              </a:rPr>
              <a:t>deploy/up.sh (docker compose), HTTPS, потому что браузер даёт микрофон только защищённой странице.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Замеры на CPU: </a:t>
            </a:r>
            <a:r>
              <a:rPr sz="1200" b="0">
                <a:solidFill>
                  <a:srgbClr val="F3F0FF"/>
                </a:solidFill>
                <a:latin typeface="Montserrat"/>
              </a:rPr>
              <a:t>EPYC 7532, 6 потоков и 32 ГБ, то есть сервер класса ТЗ.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10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СКОРОСТЬ РАБОТЫ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000000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000"/>
                <a:gridCol w="3000000"/>
                <a:gridCol w="3000000"/>
              </a:tblGrid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Задача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CPU: GigaChat 3.1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GPU: Gemma 4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Генерация, токенов в секунду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14,8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170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Подготовка учебного вызова по билету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94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Анализ описания курсанта с цитатами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26–33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2,3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Разбор доклада начальнику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20,8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1,3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4,9 с (кросс-энкодер)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0,45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Понять вопрос заявителю своими словами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1,7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346075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+44 %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скорость GigaChat на процессоре: поддержку MTP добавили в llama.cpp сами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9408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79408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сразу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9408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разбор правилами показывается мгновенно, анализ модели приходит следом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2741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741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p99 0,27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2741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отклик интерфейса при 100 пользователях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35294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Montserrat"/>
              </a:rPr>
              <a:t>НЕФУНКЦИОНАЛЬНЫЕ ТРЕБОВАНИЯ: ИЗМЕРЕНО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500000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0000"/>
                <a:gridCol w="7200000"/>
              </a:tblGrid>
              <a:tr h="50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Требование ТЗ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Измерено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Отклик интерфейса ≤ 2 с при 100 пользователях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максимум 0,69 с, p99 0,18 с; без пауз 1783 запроса/с, p99 0,27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Не менее 20 одновременных сессий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50 вызовов разом: все дошли до разбора; 80 разом: все, до 2,2 с на вызов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Сбой сети до 30 с без потери данных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правки без сети попадают в базу через 0,1 с после её возврата; канал событий восстанавливается сразу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Запись в БД ≥ 100 операций/с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1516 правок карточки в секунду, p99 41 мс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Отчёт ≤ 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по группе 0,56–0,71 с, и 0,65 с при 176 задачах модели в очереди; по вызову 7–11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Резервное копирование раз в сутки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ежесуточная копия базы с ротацией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Передача голоса ≤ 150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программная эмуляция связи без SIP; распознавание фразы 0,2–0,3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400000"/>
            <a:ext cx="115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Сервер и база ограничены 6 ядрами и 32 ГБ, как сервер из ТЗ; процессор EPYC 7532. Замеры показали четыре узких места, в том числе отчёт в очереди за моделью. Все исправлены до сдачи.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6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ИНТЕГРАЦИЯ В ДРУГИЕ СИСТЕМЫ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Открытый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REST, 92 операции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Описание OpenAPI: /api/docs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Тест сверяет описание с кодом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Модели по стандарту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Протокол OpenAI: llama.cpp, vLLM, Ollama без правки кода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Голос и сверка: отдельные HTTP-сервисы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Справочники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Классификатор ЕКП грузится из XLSX как есть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Версии классификатора и разница между ними через API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Службы и типы из справочников 112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Выгрузка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Отчёт по вызову: JSON и CSV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Отчёт по группе: JSON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Развёртывание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docker compose, одна команда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Свой сертификат или самоподписанный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Доступ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Свои учётные записи и роли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Блокировка сразу отзывает вход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33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КАЧЕСТВО КОДА И ДОКУМЕНТАЦИЯ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400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серверных проверок, все зелёные; ещё 3 на настоящих моделях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58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08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8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сценария в браузере (Playwright)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1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24,7 тыс.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1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строк Rust и 10,4 тыс. строк тестов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83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3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 тыс.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3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строк TypeScript, React 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пишем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Тесты на отдельной базе, стенд не засоряется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Описание API сверяется с кодом тестом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Комментарии объясняют «почему», а не «что»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40 миграций базы, без ручных правок схемы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Открытый код без обфускации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приложено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Сопроводительная документация, PDF и DOCX: методы, ограничения, сборка, архитектура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PROVENANCE.md: откуда каждый справочник и каждая цифра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OPEN-QUESTIONS.md: все допущения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backend/docs/замеры: методика и сырые данные замеров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189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РАЗВИТИЕ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6075" y="1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Службы по территории.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Сейчас службы подбираются по типу происшествия; после получения справочника районов добавим подбор по району и подчинённости.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19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6075" y="21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SIP-телефония.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Голос уже работает через программную эмуляцию; следующий шаг — подключение к телефонии учебного центра.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27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6075" y="29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Живая группа.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Прогноз и рекомендации проверены на ИИ-агентах; с историей реальных курсантов прогноз станет точнее, а анализ нейросети сверим с оценками преподавателей.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5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6075" y="37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Единый вход.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Сейчас свои учётные записи; подключим локальную систему доступа (LDAP/AD).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075" y="43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075" y="45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Замеры на настольном i7.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CPU-профиль измерен на сервере EPYC 7532; проверим на машине из ТЗ.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075" y="5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6075" y="5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Обратная связь ДДС в 112.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Диспетчер сможет сообщать оператору об ошибке в карточке.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10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ПРОВЕРИТЬ САМИМ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Ссылки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Репозиторий: [ЗАПОЛНИТЬ: ссылка]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Стенд: [ЗАПОЛНИТЬ: ссылка]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Документация: docs/документация.pdf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Демо-ролик: [ЗАПОЛНИТЬ: ссылка]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Учётные записи, пароль arm112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admin — администратор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teacher1 — преподаватель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op01…op05, op06…op10 — операторы 112, две группы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dds01…dds05 — диспетчеры ДДС: Служба 101, 104, 103, ЦОДД, Мослифт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dds06…dds10 — то же, пятый — Деп. ЖКХ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15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F0FF"/>
                </a:solidFill>
                <a:latin typeface="Montserrat"/>
              </a:rPr>
              <a:t>Запуск: </a:t>
            </a:r>
            <a:r>
              <a:rPr sz="1300" b="0">
                <a:solidFill>
                  <a:srgbClr val="F3F0FF"/>
                </a:solidFill>
                <a:latin typeface="Montserrat"/>
              </a:rPr>
              <a:t>deploy/up.sh поднимает сервер, базу и модели одной командой; учебный набор уже внутри.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