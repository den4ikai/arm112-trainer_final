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7.png"/><Relationship Id="rId3" Type="http://schemas.openxmlformats.org/officeDocument/2006/relationships/image" Target="../media/image8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3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Тренажёр оператора ДДС и АРМ-112 с ИИ</a:t>
            </a:r>
          </a:p>
        </p:txBody>
      </p:sp>
      <p:pic>
        <p:nvPicPr>
          <p:cNvPr id="4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305186" y="475579"/>
            <a:ext cx="5193299" cy="791032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Задача №9 · Департамент ГОЧСиПБ города Москвы</a:t>
            </a:r>
          </a:p>
          <a:p>
            <a:pPr indent="268288"/>
            <a:r>
              <a:t>Команда [ЗАПОЛНИТЬ: название команды]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Проверяем то, что просил заказчик: сказанное заявителем против заполненного курсантом. Нейросеть объясняет ошибки цитатами, которые проверяет код; прогноз и рекомендации сверяются с фактом.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[ЗАПОЛНИТЬ: ФИО, специальность]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[ЗАПОЛНИТЬ: число]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[ЗАПОЛНИТЬ: как образовалась команда]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[ЗАПОЛНИТЬ: место работы/учёбы участников]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ru-RU" dirty="0">
                <a:solidFill>
                  <a:schemeClr val="tx1"/>
                </a:solidFill>
              </a:rPr>
              <a:t> [ЗАПОЛНИТЬ: город и регион]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Веб-тренажёр в интерфейсе боевой ПОВ-112: оператор 112 принимает учебный вызов и заполняет карточку, диспетчер ДДС ведёт реагирование бригады. Эталон считает классификатор ЕКП; нейросети, голос и проверка текста работают локально, в закрытом контуре.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роль в команде]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ник в мессенджере]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телефон]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место работы/учёбы]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[ЗАПОЛНИТЬ: Имя Фамилия]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роль в команде]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ник в мессенджере]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телефон]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место работы/учёбы]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[ЗАПОЛНИТЬ: Имя Фамилия]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роль в команде]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ник в мессенджере]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телефон]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место работы/учёбы]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[ЗАПОЛНИТЬ: Имя Фамилия]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роль в команде]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ник в мессенджере]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телефон]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[ЗАПОЛНИТЬ: место работы/учёбы]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[ЗАПОЛНИТЬ: Имя Фамилия]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[ЗАПОЛНИТЬ: роль в команде]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[ЗАПОЛНИТЬ: ник в мессенджере]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[ЗАПОЛНИТЬ: телефон]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[ЗАПОЛНИТЬ: место работы/учёбы]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[ЗАПОЛНИТЬ: Имя Фамилия]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[ЗАПОЛНИТЬ: как собрались, участвовали ли вместе в хакатонах и проектах, интересные факты о команде]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Требования уточнялись по ходу: нормативы ДДС заказчик определил 27.09 — перестроили отсчёт времени и поток карточек. Модель должна работать без видеокарты — добавили в llama.cpp поддержку MTP для GigaChat 3.1 (+44 % скорости). Опросных карт в материалах было три — ещё 41 вывели из классификатора, ничего не сочиняя.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[ЗАПОЛНИТЬ: личные истории команды, если есть]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[ЗАПОЛНИТЬ: что вдохновило в этой задаче]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Сервер на Rust (axum) и PostgreSQL, клиент на React; закрытый контур, развёртывание одной командой.</a:t>
            </a:r>
          </a:p>
          <a:p>
            <a:r>
              <a:rPr lang="ru-RU" sz="1400" dirty="0">
                <a:solidFill>
                  <a:schemeClr val="tx1"/>
                </a:solidFill>
              </a:rPr>
              <a:t>Эталон — детерминированно по классификатору ЕКП (1 283 позиции).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Нейросетевая оценка: сказанное заявителем против заполненного, каждое замечание — с цитатой, которую проверяет код.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ДДС по ответам заказчика: поток карточек, 30 с / 3 мин, бригада, голос со старшим и начальником.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Два профиля моделей: CPU — GigaChat 3.1 и кросс-энкодер, GPU — Gemma 4; адрес модели — одна переменная.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Для учебного центра: подготовка операторов 112 и ДДС на копии боевого интерфейса, без доступа к боевой системе.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Преподаватель готовит вызовы с моделью, проводит занятия, марафон и блиц, ставит экспертную оценку.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Аналитика группы: ошибки, прогноз результата и рекомендации — каждое сверено с фактом и базовой линией.</a:t>
            </a:r>
          </a:p>
          <a:p>
            <a:r>
              <a:rPr lang="ru-RU" sz="1400" dirty="0">
                <a:solidFill>
                  <a:schemeClr val="tx1"/>
                </a:solidFill>
              </a:rPr>
              <a:t>Развитие: подбор служб по территории — после справочника заказчика; SIP-телефония.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024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КАРТА СООТВЕТСТВИЯ: ВОПРОС → ОТВЕТ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6075" y="1120000"/>
          <a:ext cx="11500000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0"/>
                <a:gridCol w="3000000"/>
                <a:gridCol w="900000"/>
                <a:gridCol w="1600000"/>
              </a:tblGrid>
              <a:tr h="2500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Что спрашивают эксперты и заказчик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Откуда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Слайд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Статус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Оценка действий на основе нейросетевого анализа, анализ ручного ввода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ТЗ, постановка задачи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Сказанное против заполненного, какие службы выбраны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Q&amp;A, чат № 642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Карточка и реестр похожи на 100 %, цвета и конфигурация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Чат № 679, 680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Одна учётка, две мини-роли: оператор 112 и диспетчер ДДС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Чат № 624, 628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ДДС: поток карточек, 30 с / 3 мин, статусы, бригада вручную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Чат № 684, 701, 709, 781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Голос ДДС со старшим бригады и начальником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Чат № 781; Q&amp;A № 576, 638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11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Разговор с заявителем — «будет плюсом»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Чат № 781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0053"/>
                          </a:solidFill>
                          <a:latin typeface="Montserrat"/>
                        </a:rPr>
                        <a:t>сверх MVP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Прогноз и его достоверность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Критерии ТЗ, п. 3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Рекомендации и проверка их исполнения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Критерии ТЗ, п. 3–4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Дополнительные настраиваемые параметры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Критерии ТЗ, п. 3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15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Объективность диаграмм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Критерии ТЗ, п. 3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Преподаватель: контроль, автоматическая + экспертная оценка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ТЗ, роль преподавателя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Дообучение по поправкам преподавателя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Чат № 781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B85C00"/>
                          </a:solidFill>
                          <a:latin typeface="Montserrat"/>
                        </a:rPr>
                        <a:t>частично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Закрытый контур, адрес локальной модели, железо из ТЗ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ТЗ; чат № 710, 746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18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Скорость работы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Критерии ТЗ, п. 2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19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Нефункциональные требования: 100 польз., 20 сессий, сбой сети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ТЗ, §7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20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Интеграция в другие системы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Критерии ТЗ, п. 2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21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Качество кода и документация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Критерии ТЗ, п. 2 и 4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22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7F3B"/>
                          </a:solidFill>
                          <a:latin typeface="Montserrat"/>
                        </a:rPr>
                        <a:t>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Службы по району обслуживания и подчинённости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Чат № 690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C1D22"/>
                          </a:solidFill>
                          <a:latin typeface="Montserrat"/>
                        </a:rPr>
                        <a:t>23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0053"/>
                          </a:solidFill>
                          <a:latin typeface="Montserrat"/>
                        </a:rPr>
                        <a:t>нет — ограничение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предварительной и финальной экспертизы ТЗ; ответы заказчика и организаторов в чате задачи №9 (номера сообщений); сессия вопросов и ответов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150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НЕЙРОСЕТЕВАЯ ОЦЕНКА: СКАЗАННОЕ ПРОТИВ ЗАПОЛНЕННОГО</a:t>
            </a:r>
          </a:p>
        </p:txBody>
      </p:sp>
      <p:pic>
        <p:nvPicPr>
          <p:cNvPr id="3" name="Picture 2" descr="p08-экспертная-оценка.png"/>
          <p:cNvPicPr>
            <a:picLocks noChangeAspect="1"/>
          </p:cNvPicPr>
          <p:nvPr/>
        </p:nvPicPr>
        <p:blipFill>
          <a:blip r:embed="rId2"/>
          <a:srcRect l="400" t="31500" r="52500" b="10500"/>
          <a:stretch>
            <a:fillRect/>
          </a:stretch>
        </p:blipFill>
        <p:spPr>
          <a:xfrm>
            <a:off x="346075" y="1443073"/>
            <a:ext cx="6300000" cy="4363853"/>
          </a:xfrm>
          <a:prstGeom prst="rect">
            <a:avLst/>
          </a:prstGeom>
          <a:ln w="12700">
            <a:solidFill>
              <a:srgbClr val="8A83D1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6896075" y="1150000"/>
            <a:ext cx="4950000" cy="113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96075" y="1150000"/>
            <a:ext cx="55000" cy="113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76075" y="1240000"/>
            <a:ext cx="4650000" cy="9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«проверяется соответствие того, что было сообщено голосом с тем, что он заполнил в карточке, какие службы выбрал»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сессия Q&amp;A, чат № 642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96075" y="2380000"/>
            <a:ext cx="495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6075" y="2490000"/>
            <a:ext cx="465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Как сделано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6075" y="2870000"/>
            <a:ext cx="4650000" cy="15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Правила: у каждого факта сценария — «выяснил» или «угадал»; службы сверяются с классификатором ЕКП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Нейросеть читает описание курсанта против реплик заявителя: упущено, противоречит, добавлено от себя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Цитату каждого замечания проверяет код — выдуманная отбрасывается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Преподаватель подтверждает замечания и ставит экспертную оценку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6075" y="4630000"/>
            <a:ext cx="4950000" cy="14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6075" y="4740000"/>
            <a:ext cx="465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Проверено на 66 парах «описание — факт»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6075" y="5120000"/>
            <a:ext cx="46500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1">
                <a:solidFill>
                  <a:srgbClr val="1C1D22"/>
                </a:solidFill>
                <a:latin typeface="Montserrat"/>
              </a:rPr>
              <a:t>GPU, Gemma 4: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94 %, 0,45 с на описание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1">
                <a:solidFill>
                  <a:srgbClr val="1C1D22"/>
                </a:solidFill>
                <a:latin typeface="Montserrat"/>
              </a:rPr>
              <a:t>CPU, кросс-энкодер OpenJEV 4B: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91 %, 4,9 с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1">
                <a:solidFill>
                  <a:srgbClr val="1C1D22"/>
                </a:solidFill>
                <a:latin typeface="Montserrat"/>
              </a:rPr>
              <a:t>для сравнения GigaChat: </a:t>
            </a:r>
            <a:r>
              <a:rPr sz="1050" b="0">
                <a:solidFill>
                  <a:srgbClr val="1C1D22"/>
                </a:solidFill>
                <a:latin typeface="Montserrat"/>
              </a:rPr>
              <a:t>73 % — не видит упущенного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ТЗ, постановка задачи — «оценка действий операторов на основе нейросетевого анализа», «анализ ручного ввода текста»; Q&amp;A, чат № 642. Замер — backend/docs/замеры/ОПИСАНИЯ.md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024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UX: КАК В БОЕВОЙ СИСТЕМЕ — 100 %</a:t>
            </a:r>
          </a:p>
        </p:txBody>
      </p:sp>
      <p:pic>
        <p:nvPicPr>
          <p:cNvPr id="3" name="Picture 2" descr="ref-ддс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6075" y="1761190"/>
            <a:ext cx="5625000" cy="2887620"/>
          </a:xfrm>
          <a:prstGeom prst="rect">
            <a:avLst/>
          </a:prstGeom>
          <a:ln w="12700">
            <a:solidFill>
              <a:srgbClr val="8A83D1"/>
            </a:solidFill>
          </a:ln>
        </p:spPr>
      </p:pic>
      <p:pic>
        <p:nvPicPr>
          <p:cNvPr id="4" name="Picture 3" descr="15-card-dds-histor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21075" y="1622969"/>
            <a:ext cx="5625000" cy="3164062"/>
          </a:xfrm>
          <a:prstGeom prst="rect">
            <a:avLst/>
          </a:prstGeom>
          <a:ln w="12700">
            <a:solidFill>
              <a:srgbClr val="8A83D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46075" y="1150000"/>
            <a:ext cx="5625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3F0FF"/>
                </a:solidFill>
                <a:latin typeface="Montserrat"/>
              </a:rPr>
              <a:t>Боевая ПОВ-112 — кадр из материалов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1075" y="1150000"/>
            <a:ext cx="5625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3F0FF"/>
                </a:solidFill>
                <a:latin typeface="Montserrat"/>
              </a:rPr>
              <a:t>Тренажёр — карточка ДДС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075" y="5070000"/>
            <a:ext cx="5300000" cy="80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6075" y="5070000"/>
            <a:ext cx="55000" cy="80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6075" y="5160000"/>
            <a:ext cx="5000000" cy="6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«Карточка и реестр обращений 100% должны быть похожи»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заказчик, чат № 680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6075" y="5070000"/>
            <a:ext cx="6000000" cy="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6075" y="5180000"/>
            <a:ext cx="5700000" cy="61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Журнал, карточка 112 и карточка ДДС сняты с кадров: сетка, цвета, полосы служб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Узкий экран — без горизонтальной прокрутки (проверка e2e)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чат № 679, 680 (встреча с заказчиком); ТЗ, «Требования к UX/UI»; критерии финальной экспертизы, п.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094823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450" b="1">
                <a:solidFill>
                  <a:srgbClr val="FFFFFF"/>
                </a:solidFill>
                <a:latin typeface="Montserrat"/>
              </a:rPr>
              <a:t>ДВЕ РОЛИ: ОПЕРАТОР 112 И ДИСПЕТЧЕР ДДС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11500000" cy="78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6075" y="1150000"/>
            <a:ext cx="55000" cy="78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6075" y="1240000"/>
            <a:ext cx="11200000" cy="6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«Один интерфейс, одна учетка, две мини роли… обучающего могут направить на практику в одно или другое место»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организатор, чат № 624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075" y="2080000"/>
            <a:ext cx="5625000" cy="3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075" y="2190000"/>
            <a:ext cx="5325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Оператор 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075" y="2570000"/>
            <a:ext cx="5325000" cy="25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Учебные вызовы: билеты и задания занятия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Разговор с заявителем, карточка 112 и опросная карта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Службы подбирает классификатор ЕКП, можно добавить вручную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Свой разбор, прогноз, рекомендации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Нет доступа: статусы, бригада, лента службы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1075" y="2080000"/>
            <a:ext cx="5625000" cy="3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1075" y="2190000"/>
            <a:ext cx="5325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Диспетчер ДДС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1075" y="2570000"/>
            <a:ext cx="5325000" cy="25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Поток карточек своей службы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Карточка ДДС: поля 112 — только чтение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Статусы, бригада, доклады старшего, доклад начальнику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Свой разбор ДДС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350" b="0">
                <a:solidFill>
                  <a:srgbClr val="1C1D22"/>
                </a:solidFill>
                <a:latin typeface="Montserrat"/>
              </a:rPr>
              <a:t>Нет доступа: приём вызова 112 и заполнение карточки 112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075" y="5380000"/>
            <a:ext cx="11500000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F0FF"/>
                </a:solidFill>
                <a:latin typeface="Montserrat"/>
              </a:rPr>
              <a:t>Профиль назначает преподаватель или администратор </a:t>
            </a:r>
            <a:r>
              <a:rPr sz="1250" b="0">
                <a:solidFill>
                  <a:srgbClr val="F3F0FF"/>
                </a:solidFill>
                <a:latin typeface="Montserrat"/>
              </a:rPr>
              <a:t>— «направить на практику»; смена действует сразу. Права проверяет сервер: чужое действие — отказ с причиной, а не спрятанная кнопка.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чат № 624, 628 (разбор ролей с организатором); ТЗ, «Разграничение доступа к данным по ролям»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024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ПРОЦЕСС ДДС ПО ОТВЕТАМ ЗАКАЗЧИКА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2725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6075" y="1240000"/>
            <a:ext cx="2425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30 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075" y="1681960"/>
            <a:ext cx="2425000" cy="5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от появления карточки в списке до её открытия — отметка «Получена службой»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1075" y="1150000"/>
            <a:ext cx="2725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71075" y="1240000"/>
            <a:ext cx="2425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3 мин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1075" y="1681960"/>
            <a:ext cx="2425000" cy="5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на первую запись: статус и текст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075" y="2530000"/>
            <a:ext cx="2725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075" y="2620000"/>
            <a:ext cx="2425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поток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075" y="3061960"/>
            <a:ext cx="2425000" cy="5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карточки приходят, пока диспетчер занят; у ожидающих идёт своё время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1075" y="2530000"/>
            <a:ext cx="2725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1075" y="2620000"/>
            <a:ext cx="2425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1075" y="3061960"/>
            <a:ext cx="2425000" cy="5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статусов: принята, не принята, начало реагирования, прибытие, работы, завершение, отказ — отказ только с причиной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075" y="3950000"/>
            <a:ext cx="5900000" cy="2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075" y="4060000"/>
            <a:ext cx="56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Бригада и разбор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075" y="4440000"/>
            <a:ext cx="5600000" cy="16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Бригаду диспетчер выбирает вручную, службы в карточку ДДС не добавляет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Старший докладывает сам, или диспетчер звонит ему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Статус засчитывается, только если поставлен по факту доклада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Разбор: открыто вовремя, первая запись, статусы — с ценой ошибки</a:t>
            </a:r>
          </a:p>
        </p:txBody>
      </p:sp>
      <p:pic>
        <p:nvPicPr>
          <p:cNvPr id="18" name="Picture 17" descr="p15-ддс-бригада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96075" y="1678180"/>
            <a:ext cx="5350000" cy="1243640"/>
          </a:xfrm>
          <a:prstGeom prst="rect">
            <a:avLst/>
          </a:prstGeom>
          <a:ln w="12700">
            <a:solidFill>
              <a:srgbClr val="8A83D1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496075" y="3480000"/>
            <a:ext cx="535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DDD8F5"/>
                </a:solidFill>
                <a:latin typeface="Montserrat"/>
              </a:rPr>
              <a:t>Панель бригады: доклад старшего, звонок, разбор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6075" y="3950000"/>
            <a:ext cx="5350000" cy="100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6075" y="3950000"/>
            <a:ext cx="55000" cy="100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6075" y="4040000"/>
            <a:ext cx="5050000" cy="8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«30 сек при поступлении карточки… 3 минуты на открытие карточки и добавления первой записи. Статуса и текста»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заказчик, чат № 781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6075" y="5050000"/>
            <a:ext cx="5350000" cy="110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6075" y="5050000"/>
            <a:ext cx="55000" cy="110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6075" y="5140000"/>
            <a:ext cx="5050000" cy="9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«Одновременно, как в текущей работе… тайминг идёт и для этой работы и для тех карточек, что в очереди»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организатор, чат № 709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ответы заказчика в чате № 684 (бригады вручную), 691 (доклады старшего), 701 (службы не добавляются), 709 (поток), 781 (нормативы и статусы)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024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ГОЛОС: СТАРШИЙ БРИГАДЫ И НАЧАЛЬНИК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11500000" cy="80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6075" y="1150000"/>
            <a:ext cx="55000" cy="80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6075" y="1240000"/>
            <a:ext cx="11200000" cy="6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«голосовое общение ДДС с вышестоящим начальником и ДДС с руководителем бригады… Физический IP-телефон не обязателен, достаточно программной эмуляции»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чат № 781: заказчик и организатор</a:t>
            </a:r>
          </a:p>
        </p:txBody>
      </p:sp>
      <p:pic>
        <p:nvPicPr>
          <p:cNvPr id="6" name="Picture 5" descr="p16-доклад-начальнику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6075" y="2690132"/>
            <a:ext cx="6300000" cy="1519736"/>
          </a:xfrm>
          <a:prstGeom prst="rect">
            <a:avLst/>
          </a:prstGeom>
          <a:ln w="12700">
            <a:solidFill>
              <a:srgbClr val="8A83D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46075" y="4830000"/>
            <a:ext cx="63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DDD8F5"/>
                </a:solidFill>
                <a:latin typeface="Montserrat"/>
              </a:rPr>
              <a:t>Доклад начальнику: вопросы по недоложенному, кнопка «Голосом», затем разбор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96075" y="2100000"/>
            <a:ext cx="495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6075" y="2210000"/>
            <a:ext cx="465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Как сделано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6075" y="2590000"/>
            <a:ext cx="4650000" cy="1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Речь курсанта распознаёт GigaAM-v3, ответы озвучивает TeraTTSv2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Всё локально, на процессоре; без SIP — программная эмуляция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Начальник спрашивает только о том, что есть в карточке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6075" y="4150000"/>
            <a:ext cx="24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6075" y="4240000"/>
            <a:ext cx="2100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0,2–0,3 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6075" y="4608300"/>
            <a:ext cx="21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распознать фразу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6075" y="4150000"/>
            <a:ext cx="24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96075" y="4240000"/>
            <a:ext cx="2100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0,5–0,7 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6075" y="4608300"/>
            <a:ext cx="21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озвучить фразу доклада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075" y="5300000"/>
            <a:ext cx="115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3F0FF"/>
                </a:solidFill>
                <a:latin typeface="Montserrat"/>
              </a:rPr>
              <a:t>Разбор доклада начальнику: </a:t>
            </a:r>
            <a:r>
              <a:rPr sz="1150" b="0">
                <a:solidFill>
                  <a:srgbClr val="F3F0FF"/>
                </a:solidFill>
                <a:latin typeface="Montserrat"/>
              </a:rPr>
              <a:t>что доложено, что нет, что неверно — с цитатами, проверенными кодом; на GPU — 1,3 с. В телефонии заказчик ставил фокус на связи «ДДС — службы» (Q&amp;A, № 638).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чат № 781; сессия Q&amp;A, чат № 576, 638. Замеры — backend/docs/замеры/ГОЛОС.md, доклад-начальнику.md; процессор EPYC 7532, 4 потока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024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СВЕРХ MVP: РАЗГОВОР С ЗАЯВИТЕЛЕМ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7600000" cy="80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6075" y="1150000"/>
            <a:ext cx="55000" cy="80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6075" y="1240000"/>
            <a:ext cx="7300000" cy="6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«Диалог с заявителем исключен на этапе MVP, но вы можете его сделать — это будет плюсом»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заказчик, чат № 781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075" y="2100000"/>
            <a:ext cx="3700000" cy="3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075" y="221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Вопрос своими словами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075" y="2590000"/>
            <a:ext cx="3400000" cy="33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Голосом или текстом, как в живом разговоре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Модель выбирает факт из закрытого списка сценария — выдумать нечего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Понято 27 из 27 вопросов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Бессмысленные отсеяны: CPU — 5 из 7 за 1,7 с, GPU — 7 из 7 за 0,13 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075" y="2100000"/>
            <a:ext cx="3700000" cy="3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6075" y="221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Заявитель отвечает голосом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075" y="2590000"/>
            <a:ext cx="3400000" cy="33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Мужской или женский голос — по отчеству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На GPU — живая реплика модели: 16 из 19 живые, 0,5 с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Реплику проверяют код и вторая модель; не прошла — фраза сценария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050" b="0">
                <a:solidFill>
                  <a:srgbClr val="1C1D22"/>
                </a:solidFill>
                <a:latin typeface="Montserrat"/>
              </a:rPr>
              <a:t>«Выяснил / угадал» не зависит от генерации</a:t>
            </a:r>
          </a:p>
        </p:txBody>
      </p:sp>
      <p:pic>
        <p:nvPicPr>
          <p:cNvPr id="12" name="Picture 11" descr="p14-заявитель-своими-словами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8575" y="1150000"/>
            <a:ext cx="2975000" cy="4900000"/>
          </a:xfrm>
          <a:prstGeom prst="rect">
            <a:avLst/>
          </a:prstGeom>
          <a:ln w="12700">
            <a:solidFill>
              <a:srgbClr val="8A83D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чат № 781. Замеры — backend/docs/замеры/СВОБОДНЫЙ-ВОПРОС.md, ЖИВОЙ-ЗАЯВИТЕЛЬ.md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5164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ПРОГНОЗ И ЕГО ДОСТОВЕРНОСТЬ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5300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6075" y="1260000"/>
            <a:ext cx="50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Как устроено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075" y="1640000"/>
            <a:ext cx="5000000" cy="2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Прогноз балла фиксируется до начала вызова — задним числом не правится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Модель — гребневая регрессия по истории курсанта: объяснимо, не переобучается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Рядом всегда базовая линия — средний балл курсанта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Достоверность: средняя ошибка, доля попаданий в допуск ±10, то же у базовой линии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075" y="4600000"/>
            <a:ext cx="1666666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075" y="4690000"/>
            <a:ext cx="1366666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0053"/>
                </a:solidFill>
                <a:latin typeface="Montserrat"/>
              </a:rPr>
              <a:t>[ЦИФРА]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075" y="5021470"/>
            <a:ext cx="1366666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средняя ошибка прогноза, баллов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2741" y="4600000"/>
            <a:ext cx="1666666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2741" y="4690000"/>
            <a:ext cx="1366666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0053"/>
                </a:solidFill>
                <a:latin typeface="Montserrat"/>
              </a:rPr>
              <a:t>[ЦИФРА]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2741" y="5021470"/>
            <a:ext cx="1366666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та же ошибка у базовой линии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9407" y="4600000"/>
            <a:ext cx="1666666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9407" y="4690000"/>
            <a:ext cx="1366666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0053"/>
                </a:solidFill>
                <a:latin typeface="Montserrat"/>
              </a:rPr>
              <a:t>[ЦИФРА]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9407" y="5021470"/>
            <a:ext cx="1366666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попаданий в допуск ±10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6075" y="1150000"/>
            <a:ext cx="5950000" cy="4900000"/>
          </a:xfrm>
          <a:prstGeom prst="roundRect">
            <a:avLst>
              <a:gd name="adj" fmla="val 2000"/>
            </a:avLst>
          </a:prstGeom>
          <a:solidFill>
            <a:srgbClr val="F3F0FA"/>
          </a:solidFill>
          <a:ln w="12700">
            <a:solidFill>
              <a:srgbClr val="8A83D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75" y="3350000"/>
            <a:ext cx="555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B53A8"/>
                </a:solidFill>
                <a:latin typeface="Montserrat"/>
              </a:rPr>
              <a:t>[СКРИН: прогноз и факт в аналитике, на данных аудита]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ТЗ: предварительная экспертиза, п. 3 — «проверка прогнозирования (оценка достоверности)»; финальная, п. 3 — «сравнение реальных данных и прогнозных значений». Число пар: [ЦИФРА: пар «прогноз — факт»]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135294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РЕКОМЕНДАЦИИ И ПРОВЕРКА ИХ ИСПОЛНЕНИЯ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5300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6075" y="1260000"/>
            <a:ext cx="50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Как устроено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075" y="1640000"/>
            <a:ext cx="5000000" cy="2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Рекомендация выдаётся, когда ошибка повторилась, — текст из замечаний разбора, модель его не пишет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Фиксируется с временем; следующий разбор ставит вердикт: ушла ошибка или нет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Рядом базовая линия: как часто та же ошибка уходит сама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075" y="4600000"/>
            <a:ext cx="2575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075" y="4690000"/>
            <a:ext cx="2275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[ЦИФРА]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075" y="5058300"/>
            <a:ext cx="2275000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рекомендаций сработало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1075" y="4600000"/>
            <a:ext cx="2575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1075" y="4690000"/>
            <a:ext cx="22750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[ЦИФРА]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1075" y="5058300"/>
            <a:ext cx="2275000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ошибка ушла сама — базовая линия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6075" y="1150000"/>
            <a:ext cx="5950000" cy="4900000"/>
          </a:xfrm>
          <a:prstGeom prst="roundRect">
            <a:avLst>
              <a:gd name="adj" fmla="val 2000"/>
            </a:avLst>
          </a:prstGeom>
          <a:solidFill>
            <a:srgbClr val="F3F0FA"/>
          </a:solidFill>
          <a:ln w="12700">
            <a:solidFill>
              <a:srgbClr val="8A83D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75" y="3350000"/>
            <a:ext cx="555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B53A8"/>
                </a:solidFill>
                <a:latin typeface="Montserrat"/>
              </a:rPr>
              <a:t>[СКРИН: рекомендации и их исполнение, на данных аудита]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финальной экспертизы ТЗ: п. 3 — «проверка рекомендаций сервиса и реальных рекомендаций»; п. 4 — «соответствие рекомендаций реальным при текущих вводных»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094823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450" b="1">
                <a:solidFill>
                  <a:srgbClr val="FFFFFF"/>
                </a:solidFill>
                <a:latin typeface="Montserrat"/>
              </a:rPr>
              <a:t>ДОПОЛНИТЕЛЬНЫЕ НАСТРАИВАЕМЫЕ ПАРАМЕТРЫ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6075" y="1120000"/>
          <a:ext cx="11500000" cy="4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4600000"/>
                <a:gridCol w="2500000"/>
                <a:gridCol w="2500000"/>
              </a:tblGrid>
              <a:tr h="29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Группа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Параметр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По умолчанию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Пределы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Нормативы ДДС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открыть карточку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30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5–600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первая запись (статус и текст)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3 мин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10 с – 60 мин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перевод в «Не завершено»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48 ч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1–720 ч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Занятие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интервал потока карточек ДДС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60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10–900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марафон; блиц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5–10 вызовов; 3–10 заданий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Бригада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число бригад службы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1–10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выезд, прибытие, начало работ, работы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20 / 40 / 20 / 60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5–3600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задержка доклада; статус после доклада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25 с; 30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0–3600; 5–600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Прогноз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допуск попадания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±10 баллов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1–30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глубина истории; регуляризация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5; 0,1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3–20; 0–10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Рекомендации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окно разборов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2–20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Аттестация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порог прохождения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70 баллов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1–100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ИИ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движок анализа текста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авто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авто / кросс-энкодер / LLM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живые реплики начальника и заявителя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выкл. на CPU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вкл. / выкл.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адреса моделей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локальные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1D22"/>
                          </a:solidFill>
                          <a:latin typeface="Montserrat"/>
                        </a:rPr>
                        <a:t>ML_BASE_URL, VOICE_, NLI_BASE_URL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6075" y="5800000"/>
            <a:ext cx="115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F3F0FF"/>
                </a:solidFill>
                <a:latin typeface="Montserrat"/>
              </a:rPr>
              <a:t>Все параметры — в таблице настроек, не в коде; значение вне пределов сервер отклоняет. Меняет администратор через API (PATCH /api/settings/…); отдельного экрана настроек в интерфейсе нет [ПРОВЕРИТЬ].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финальной экспертизы ТЗ, п. 3 — «реализация дополнительных настраиваемых параметров»; ТЗ, роль преподавателя — «настраивать критерии успешности»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5336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ДИАГРАММЫ ИЗ РЕАЛЬНЫХ ДАННЫХ</a:t>
            </a:r>
          </a:p>
        </p:txBody>
      </p:sp>
      <p:pic>
        <p:nvPicPr>
          <p:cNvPr id="3" name="Picture 2" descr="p11-аналитика.png"/>
          <p:cNvPicPr>
            <a:picLocks noChangeAspect="1"/>
          </p:cNvPicPr>
          <p:nvPr/>
        </p:nvPicPr>
        <p:blipFill>
          <a:blip r:embed="rId2"/>
          <a:srcRect t="32000" b="26500"/>
          <a:stretch>
            <a:fillRect/>
          </a:stretch>
        </p:blipFill>
        <p:spPr>
          <a:xfrm>
            <a:off x="346075" y="1307734"/>
            <a:ext cx="11500000" cy="2684531"/>
          </a:xfrm>
          <a:prstGeom prst="rect">
            <a:avLst/>
          </a:prstGeom>
          <a:ln w="12700">
            <a:solidFill>
              <a:srgbClr val="8A83D1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346075" y="4350000"/>
            <a:ext cx="5625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6075" y="4460000"/>
            <a:ext cx="5325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Почему им можно верить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075" y="4840000"/>
            <a:ext cx="5325000" cy="12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50" b="0">
                <a:solidFill>
                  <a:srgbClr val="1C1D22"/>
                </a:solidFill>
                <a:latin typeface="Montserrat"/>
              </a:rPr>
              <a:t>Строятся из статистики занятий, без сторонних библиотек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50" b="0">
                <a:solidFill>
                  <a:srgbClr val="1C1D22"/>
                </a:solidFill>
                <a:latin typeface="Montserrat"/>
              </a:rPr>
              <a:t>Каждая доля — с числителем и знаменателем («4 из 14»)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50" b="0">
                <a:solidFill>
                  <a:srgbClr val="1C1D22"/>
                </a:solidFill>
                <a:latin typeface="Montserrat"/>
              </a:rPr>
              <a:t>Словесную сводку пишет модель, но числа ей подаются уже посчитанными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1075" y="4350000"/>
            <a:ext cx="5625000" cy="1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1075" y="4460000"/>
            <a:ext cx="5325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Что на экране аналитики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1075" y="4840000"/>
            <a:ext cx="5325000" cy="12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50" b="0">
                <a:solidFill>
                  <a:srgbClr val="1C1D22"/>
                </a:solidFill>
                <a:latin typeface="Montserrat"/>
              </a:rPr>
              <a:t>Выяснил или угадал; тепловая карта ошибок; время против норматива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50" b="0">
                <a:solidFill>
                  <a:srgbClr val="1C1D22"/>
                </a:solidFill>
                <a:latin typeface="Montserrat"/>
              </a:rPr>
              <a:t>Прогноз и рекомендации — рядом с базовой линией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50" b="0">
                <a:solidFill>
                  <a:srgbClr val="1C1D22"/>
                </a:solidFill>
                <a:latin typeface="Montserrat"/>
              </a:rPr>
              <a:t>Учебная статистика отдельно от проверочных прогонов [ПРОВЕРИТЬ по аудиту]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финальной экспертизы ТЗ, п. 3 — «проверка объективности диаграмм… визуальная восприимчивость и отражение данных»; ТЗ, опционально — «тепловые карты ошибок»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5508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ПРЕПОДАВАТЕЛЬ И АДМИНИСТРАТОР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5625000" cy="3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6075" y="1260000"/>
            <a:ext cx="5325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Преподаватель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075" y="1640000"/>
            <a:ext cx="5325000" cy="32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Модель готовит учебные вызовы из билетов, правка — перепиской; курсанты видят вызов только после утверждения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Занятия 112 и ДДС; марафон — экзамен из 5–10 вызовов; блиц — одна часть карточки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Автоматическая и экспертная оценка рядом; подтверждение или отклонение замечаний нейросети, комментарий курсанту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Аналитика группы; назначение курсанта на рабочее место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1075" y="1150000"/>
            <a:ext cx="5625000" cy="3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1075" y="1260000"/>
            <a:ext cx="5325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Администратор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1075" y="1640000"/>
            <a:ext cx="5325000" cy="328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Учётные записи и рабочие места курсантов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Блокировка сразу отзывает вход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Удаление — сначала резервная копия, затем обезличивание; оценки остаются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Журнал действий, ежесуточные копии базы, состояние сервера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Экспертных оценок не ставит — это право преподавателя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075" y="5200000"/>
            <a:ext cx="115000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3F0FF"/>
                </a:solidFill>
                <a:latin typeface="Montserrat"/>
              </a:rPr>
              <a:t>«Дообучать модель» по поправкам преподавателя — честно: </a:t>
            </a:r>
            <a:r>
              <a:rPr sz="1200" b="0">
                <a:solidFill>
                  <a:srgbClr val="F3F0FF"/>
                </a:solidFill>
                <a:latin typeface="Montserrat"/>
              </a:rPr>
              <a:t>правки идут в сценарий и в контекст модели при следующей подготовке, веса не меняются. Как должны вноситься поправки, заказчик переспросил в том же ответе (чат № 781).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ТЗ, роли преподавателя и администратора: «автоматическая оценка И экспертная оценка», «запрет изменения оценок во время активного занятия»; чат № 781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5680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ЗАКРЫТЫЙ КОНТУР И ЖЕЛЕЗО ИЗ ТЗ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11500000" cy="80000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6075" y="1150000"/>
            <a:ext cx="55000" cy="800000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6075" y="1240000"/>
            <a:ext cx="11200000" cy="6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«в самом решении должна быть возможность прописать, куда обращаться к модели, если она будет не во вне, а локально»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10F53"/>
                </a:solidFill>
                <a:latin typeface="Montserrat"/>
              </a:rPr>
              <a:t>— организатор, чат № 746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6075" y="2100000"/>
          <a:ext cx="115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/>
                <a:gridCol w="4200000"/>
                <a:gridCol w="4200000"/>
              </a:tblGrid>
              <a:tr h="44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CPU — как в ТЗ: i7/Xeon от 6 ядер, 32 ГБ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GPU — если заказчик выделит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Языковая модель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GigaChat 3.1 10B-A1.8B, llama.cpp + MTP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Gemma 4 26B-A4B, INT4, vLLM, одна RTX 4090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Сверка описания с фактами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кросс-энкодер OpenJEV 4B, 91 %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Gemma 4, 94 %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Голос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GigaAM-v3 и TeraTTSv2 на процессоре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то же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Живые реплики начальника и заявителя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выключены — медленно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включены; реплика заявителя 0,5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6075" y="4550000"/>
            <a:ext cx="115000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3F0FF"/>
                </a:solidFill>
                <a:latin typeface="Montserrat"/>
              </a:rPr>
              <a:t>Внешних обращений нет. </a:t>
            </a:r>
            <a:r>
              <a:rPr sz="1200" b="0">
                <a:solidFill>
                  <a:srgbClr val="F3F0FF"/>
                </a:solidFill>
                <a:latin typeface="Montserrat"/>
              </a:rPr>
              <a:t>Все модели работают внутри контура; адрес каждой — одна переменная (ML_BASE_URL, VOICE_BASE_URL, NLI_BASE_URL).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3F0FF"/>
                </a:solidFill>
                <a:latin typeface="Montserrat"/>
              </a:rPr>
              <a:t>Развёртывание одной командой </a:t>
            </a:r>
            <a:r>
              <a:rPr sz="1200" b="0">
                <a:solidFill>
                  <a:srgbClr val="F3F0FF"/>
                </a:solidFill>
                <a:latin typeface="Montserrat"/>
              </a:rPr>
              <a:t>deploy/up.sh (docker compose), HTTPS — браузер даёт микрофон только защищённой странице.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3F0FF"/>
                </a:solidFill>
                <a:latin typeface="Montserrat"/>
              </a:rPr>
              <a:t>Честно о замерах: </a:t>
            </a:r>
            <a:r>
              <a:rPr sz="1200" b="0">
                <a:solidFill>
                  <a:srgbClr val="F3F0FF"/>
                </a:solidFill>
                <a:latin typeface="Montserrat"/>
              </a:rPr>
              <a:t>CPU мерили на EPYC 7532 (6 потоков, 8 каналов памяти) — это потолок; на настольном i7 будет медленнее, там не мерили.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ТЗ — «без доступа к внешним сетям», системные требования к серверу ИИ; чат № 710, 746 (адрес локальной модели), 23.09 (видеокарта — «если нужно будет»)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3100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СКОРОСТЬ РАБОТЫ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6075" y="1150000"/>
          <a:ext cx="110000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/>
                <a:gridCol w="3000000"/>
                <a:gridCol w="300000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Задача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CPU: GigaChat 3.1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GPU: Gemma 4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Генерация, токенов в секунду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14,8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170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Подготовка учебного вызова по билету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94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3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Анализ описания курсанта с цитатами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26–33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2,3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Разбор доклада начальнику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20,8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1,3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Сверка описания с фактами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4,9 с (кросс-энкодер)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0,45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Понять вопрос заявителю своими словами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1,7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0,13 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46075" y="4300000"/>
            <a:ext cx="3733333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6075" y="4390000"/>
            <a:ext cx="3433333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+44 %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075" y="4868790"/>
            <a:ext cx="3433333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скорость GigaChat на процессоре от MTP — поддержку добавили в llama.cpp сами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9408" y="4300000"/>
            <a:ext cx="3733333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9408" y="4390000"/>
            <a:ext cx="3433333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сразу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408" y="4868790"/>
            <a:ext cx="3433333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разбор правилами — модель интерфейс не держит, анализ приходит следом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741" y="4300000"/>
            <a:ext cx="3733333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2741" y="4390000"/>
            <a:ext cx="3433333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p99 0,27 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2741" y="4868790"/>
            <a:ext cx="3433333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отклик интерфейса при 100 пользователях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ТЗ: п. 2 — «скорость работы решения»; финальная, п. 3 — «скорость и удобство работы». Замеры — сопроводительная документация, 6.2–6.3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120117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350" b="1">
                <a:solidFill>
                  <a:srgbClr val="FFFFFF"/>
                </a:solidFill>
                <a:latin typeface="Montserrat"/>
              </a:rPr>
              <a:t>НЕФУНКЦИОНАЛЬНЫЕ ТРЕБОВАНИЯ ТЗ — ИЗМЕРЕНО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6075" y="1150000"/>
          <a:ext cx="115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0000"/>
                <a:gridCol w="7200000"/>
              </a:tblGrid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Требование ТЗ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Измерено</a:t>
                      </a:r>
                    </a:p>
                  </a:txBody>
                  <a:tcPr marL="80000" marR="80000" marT="25000" marB="25000" anchor="ctr">
                    <a:solidFill>
                      <a:srgbClr val="310F53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Отклик интерфейса ≤ 2 с при 100 пользователях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максимум 0,69 с, p99 0,18 с; без пауз, 1783 запроса/с — p99 0,27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Не менее 20 одновременных сессий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50 вызовов разом — все дошли до разбора; 80 разом — все, до 2,2 с на вызов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Сбой сети до 30 с без потери данных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правки без сети — в базе через 0,1 с после её возврата; канал событий — сразу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Запись в БД ≥ 100 операций/с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1516 правок карточки в секунду, p99 41 мс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Отчёт ≤ 30 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отчёт по группе 0,56–0,71 с; по вызову 7–11 мс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Резервное копирование раз в сутки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ежесуточная копия базы с ротацией</a:t>
                      </a:r>
                    </a:p>
                  </a:txBody>
                  <a:tcPr marL="80000" marR="80000" marT="25000" marB="25000" anchor="ctr">
                    <a:solidFill>
                      <a:srgbClr val="F3F0FA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Передача голоса ≤ 150 мс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D22"/>
                          </a:solidFill>
                          <a:latin typeface="Montserrat"/>
                        </a:rPr>
                        <a:t>не мерили: SIP нет, программная эмуляция — заказчик: «достаточно»</a:t>
                      </a:r>
                    </a:p>
                  </a:txBody>
                  <a:tcPr marL="80000" marR="80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6075" y="5400000"/>
            <a:ext cx="11500000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3F0FF"/>
                </a:solidFill>
                <a:latin typeface="Montserrat"/>
              </a:rPr>
              <a:t>Сервер и база ограничены 6 ядрами и 32 ГБ, как сервер из ТЗ; процессор — EPYC 7532, не машина заказчика. Замер нашёл три узких места — исправлены до сдачи.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ТЗ, раздел нефункциональных требований (§7); чат № 781 (телефония — программная эмуляция). Методика и сырые данные — backend/docs/замеры/НАГРУЗКА.md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5164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ИНТЕГРАЦИЯ В ДРУГИЕ СИСТЕМЫ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37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6075" y="126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Открытый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075" y="1640000"/>
            <a:ext cx="3400000" cy="1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REST, 68 маршрутов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Описание OpenAPI — /api/docs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Тест сверяет описание с кодом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6075" y="1150000"/>
            <a:ext cx="37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96075" y="126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Модели по стандарту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6075" y="1640000"/>
            <a:ext cx="3400000" cy="1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Протокол OpenAI: llama.cpp, vLLM, Ollama — без правки кода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Голос и сверка — отдельные HTTP-сервисы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6075" y="1150000"/>
            <a:ext cx="37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6075" y="126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Данные заказчика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6075" y="1640000"/>
            <a:ext cx="3400000" cy="1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Классификатор ЕКП грузится из XLSX как есть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Версии классификатора и разница между ними — через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075" y="3650000"/>
            <a:ext cx="37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075" y="376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Выгрузка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075" y="4140000"/>
            <a:ext cx="3400000" cy="1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Отчёт по вызову — JSON и CSV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Отчёт по группе —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6075" y="3650000"/>
            <a:ext cx="37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6075" y="376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Развёртывание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6075" y="4140000"/>
            <a:ext cx="3400000" cy="1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docker compose, одна команда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Свой сертификат или самоподписанный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6075" y="3650000"/>
            <a:ext cx="37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075" y="3760000"/>
            <a:ext cx="340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0053"/>
                </a:solidFill>
                <a:latin typeface="Montserrat"/>
              </a:rPr>
              <a:t>Честно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075" y="4140000"/>
            <a:ext cx="3400000" cy="1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250" b="0">
                <a:solidFill>
                  <a:srgbClr val="1C1D22"/>
                </a:solidFill>
                <a:latin typeface="Montserrat"/>
              </a:rPr>
              <a:t>Вход — свои учётные записи; локальная система доступа (LDAP/AD) не подключена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ТЗ, п. 2 — «возможность интеграции в любые другие системы»; ТЗ — «отдельный сервис», «интеграция с форматами данных ГБУ „Система 112“»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5336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КАЧЕСТВО КОДА И ДОКУМЕНТАЦИЯ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27625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6075" y="1240000"/>
            <a:ext cx="24625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358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075" y="1681960"/>
            <a:ext cx="2462500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серверных тестов — все зелёные; ещё 3 на настоящих моделях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8575" y="1150000"/>
            <a:ext cx="27625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8575" y="1240000"/>
            <a:ext cx="24625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8575" y="1681960"/>
            <a:ext cx="2462500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сценариев в браузере (Playwright)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1075" y="1150000"/>
            <a:ext cx="27625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1075" y="1240000"/>
            <a:ext cx="24625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21,5 тыс.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1075" y="1681960"/>
            <a:ext cx="2462500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строк Rust + 8,9 тыс. строк тестов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83575" y="1150000"/>
            <a:ext cx="27625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3575" y="1240000"/>
            <a:ext cx="2462500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  <a:latin typeface="Montserrat"/>
              </a:rPr>
              <a:t>8 тыс.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3575" y="1681960"/>
            <a:ext cx="2462500" cy="7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C1D22"/>
                </a:solidFill>
                <a:latin typeface="Montserrat"/>
              </a:rPr>
              <a:t>строк TypeScript, React 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075" y="2800000"/>
            <a:ext cx="5650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075" y="2910000"/>
            <a:ext cx="535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Как пишем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075" y="3290000"/>
            <a:ext cx="5350000" cy="2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Тесты на отдельной базе — стенд не засоряется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Описание API сверяется с кодом тестом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Комментарии объясняют «почему», а не «что»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35 миграций базы, без ручных правок схемы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Открытый код без обфускации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075" y="2800000"/>
            <a:ext cx="5650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6075" y="2910000"/>
            <a:ext cx="535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Что приложено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6075" y="3290000"/>
            <a:ext cx="5350000" cy="27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Сопроводительная документация — PDF и DOCX: методы, ограничения, сборка, архитектура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PROVENANCE.md — откуда каждый справочник и каждая цифра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OPEN-QUESTIONS.md — все допущения и чего не хватило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100" b="0">
                <a:solidFill>
                  <a:srgbClr val="1C1D22"/>
                </a:solidFill>
                <a:latin typeface="Montserrat"/>
              </a:rPr>
              <a:t>backend/docs/замеры — методика и сырые данные замеров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критерии ТЗ: п. 2 — «качество кода»; п. 4 — «полнота сопроводительной документации»; ТЗ — открытый код, перечень библиотек, комментарии к сложному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3960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ОГРАНИЧЕНИЯ — ЧЕСТНО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1150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6075" y="1300000"/>
            <a:ext cx="111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Службы только по типу происшествия.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Заказчик: службы ещё и по району и подчинённости, но «справочников нет в природе» (чат № 690, 781).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075" y="1950000"/>
            <a:ext cx="1150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6075" y="2100000"/>
            <a:ext cx="111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Веса модели не дообучаются.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Правки преподавателя идут в сценарий и контекст; механизм поправок заказчик уточняет (чат № 781).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075" y="2750000"/>
            <a:ext cx="1150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075" y="2900000"/>
            <a:ext cx="111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Скорость на i7 не мерили. </a:t>
            </a:r>
            <a:r>
              <a:rPr sz="1200" b="0">
                <a:solidFill>
                  <a:srgbClr val="1C1D22"/>
                </a:solidFill>
                <a:latin typeface="Montserrat"/>
              </a:rPr>
              <a:t>CPU-замеры — на EPYC 7532 с 8 каналами памяти.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075" y="3550000"/>
            <a:ext cx="1150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075" y="3700000"/>
            <a:ext cx="111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Эталонная версия классификатора не определена. </a:t>
            </a:r>
            <a:r>
              <a:rPr sz="1200" b="0">
                <a:solidFill>
                  <a:srgbClr val="1C1D22"/>
                </a:solidFill>
                <a:latin typeface="Montserrat"/>
              </a:rPr>
              <a:t>v046_24 или v046_11 — заказчик обещал ответить; активна v046_24.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075" y="4350000"/>
            <a:ext cx="1150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075" y="4500000"/>
            <a:ext cx="111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ДДС не сообщает в 112 об ошибке в карточке. </a:t>
            </a:r>
            <a:r>
              <a:rPr sz="1200" b="0">
                <a:solidFill>
                  <a:srgbClr val="1C1D22"/>
                </a:solidFill>
                <a:latin typeface="Montserrat"/>
              </a:rPr>
              <a:t>Эталонных примеров ошибок заказчик не дал.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075" y="5150000"/>
            <a:ext cx="115000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075" y="5300000"/>
            <a:ext cx="111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C1D22"/>
                </a:solidFill>
                <a:latin typeface="Montserrat"/>
              </a:rPr>
              <a:t>Анализ нейросети не сверен с оценками экспертов на выборке. </a:t>
            </a:r>
            <a:r>
              <a:rPr sz="1200" b="0">
                <a:solidFill>
                  <a:srgbClr val="1C1D22"/>
                </a:solidFill>
                <a:latin typeface="Montserrat"/>
              </a:rPr>
              <a:t>Проверен на 66 парах, написанных командой; решение — за преподавателем.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075" y="6300000"/>
            <a:ext cx="109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FC8F4"/>
                </a:solidFill>
                <a:latin typeface="Montserrat"/>
              </a:rPr>
              <a:t>Требование: </a:t>
            </a:r>
            <a:r>
              <a:rPr sz="900" b="0">
                <a:solidFill>
                  <a:srgbClr val="CFC8F4"/>
                </a:solidFill>
                <a:latin typeface="Montserrat"/>
              </a:rPr>
              <a:t>чат № 690, 781; OPEN-QUESTIONS.md — полный список допущений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3100000" cy="560000"/>
          </a:xfrm>
          <a:prstGeom prst="roundRect">
            <a:avLst>
              <a:gd name="adj" fmla="val 2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wrap="none"/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ПРОВЕРИТЬ САМИМ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150000"/>
            <a:ext cx="5650000" cy="3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6075" y="1260000"/>
            <a:ext cx="535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Ссылки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075" y="1640000"/>
            <a:ext cx="5350000" cy="32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Репозиторий: [ЗАПОЛНИТЬ: ссылка]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Стенд: [ЗАПОЛНИТЬ: ссылка]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Документация: docs/документация.pdf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Демо-ролик: [ЗАПОЛНИТЬ: ссылка]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075" y="1150000"/>
            <a:ext cx="5650000" cy="3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6075" y="1260000"/>
            <a:ext cx="5350000" cy="3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  <a:latin typeface="Montserrat"/>
              </a:rPr>
              <a:t>Учётные записи, пароль arm112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6075" y="1640000"/>
            <a:ext cx="5350000" cy="323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admin — администратор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teacher1 — преподаватель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student1 — оператор 112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0053"/>
                </a:solidFill>
                <a:latin typeface="Montserrat"/>
              </a:rPr>
              <a:t>•  </a:t>
            </a:r>
            <a:r>
              <a:rPr sz="1400" b="0">
                <a:solidFill>
                  <a:srgbClr val="1C1D22"/>
                </a:solidFill>
                <a:latin typeface="Montserrat"/>
              </a:rPr>
              <a:t>student3 — диспетчер ДДС, Служба 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075" y="5150000"/>
            <a:ext cx="115000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F0FF"/>
                </a:solidFill>
                <a:latin typeface="Montserrat"/>
              </a:rPr>
              <a:t>Дальше: </a:t>
            </a:r>
            <a:r>
              <a:rPr sz="1300" b="0">
                <a:solidFill>
                  <a:srgbClr val="F3F0FF"/>
                </a:solidFill>
                <a:latin typeface="Montserrat"/>
              </a:rPr>
              <a:t>подбор служб по территории — после справочника заказчика; сверка анализа нейросети с оценками преподавателей на живой группе; SIP-телефония.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