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1" r:id="rId17"/>
    <p:sldId id="267" r:id="rId26"/>
    <p:sldId id="372" r:id="rId14"/>
    <p:sldId id="373" r:id="rId15"/>
    <p:sldId id="260" r:id="rId19"/>
    <p:sldId id="262" r:id="rId21"/>
    <p:sldId id="270" r:id="rId28"/>
    <p:sldId id="374" r:id="rId18"/>
    <p:sldId id="261" r:id="rId20"/>
    <p:sldId id="263" r:id="rId22"/>
    <p:sldId id="370" r:id="rId16"/>
    <p:sldId id="3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токенов в секунду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без MTP: 10,3 ток/с</c:v>
                </c:pt>
                <c:pt idx="1">
                  <c:v>с MTP: 14,8 ток/с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10.3</c:v>
                </c:pt>
                <c:pt idx="1">
                  <c:v>14.8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.0&quot; ток/с&quot;" sourceLinked="0"/>
          <c:txPr>
            <a:bodyPr/>
            <a:lstStyle/>
            <a:p>
              <a:pPr>
                <a:defRPr sz="18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8.0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image" Target="../media/image8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9.png"/><Relationship Id="rId4" Type="http://schemas.openxmlformats.org/officeDocument/2006/relationships/image" Target="../media/image830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Тренажёр оператора ДДС и АРМ-112 с ИИ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475579"/>
            <a:ext cx="5193299" cy="791032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№9 · Департамент ГОЧСиПБ города Москвы</a:t>
            </a:r>
          </a:p>
          <a:p>
            <a:pPr indent="268288"/>
            <a:r>
              <a:t>Команда [ЗАПОЛНИТЬ: название команды]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Тренажёр отличает выясненное у заявителя от угаданного. Замечания нейросети подтверждены цитатами, которые проверяет код, а прогноз и рекомендации сверяются с фактом.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[ЗАПОЛНИТЬ: ФИО, специальность]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[ЗАПОЛНИТЬ: число]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[ЗАПОЛНИТЬ: как образовалась команда]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[ЗАПОЛНИТЬ: место работы/учёбы участников]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dirty="0">
                <a:solidFill>
                  <a:schemeClr val="tx1"/>
                </a:solidFill>
              </a:rPr>
              <a:t> [ЗАПОЛНИТЬ: город и регион]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Веб-тренажёр в интерфейсе боевой ПОВ-112: оператор 112 принимает учебный вызов и заполняет карточку, диспетчер ДДС ведёт реагирование бригады. Эталон считает классификатор ЕКП, модель работает локально на процессоре.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роль в команде]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телефон]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[ЗАПОЛНИТЬ: как собрались, участвовали ли вместе в хакатонах и проектах, интересные факты о команде]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Требования уточнялись по ходу: нормативы ДДС заказчик определил 27.09 — перестроили отсчёт времени и поток карточек. Модель должна работать без видеокарты — добавили в llama.cpp поддержку MTP для GigaChat 3.1 (+44 % скорости). Опросных карт в материалах было три — ещё 41 вывели из классификатора, ничего не сочиняя.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[ЗАПОЛНИТЬ: личные истории команды, если есть]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[ЗАПОЛНИТЬ: что вдохновило в этой задаче]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Сервер на Rust (axum) и PostgreSQL, клиент на React; всё в закрытом контуре, развёртывание одной командой.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Классификация и эталон — детерминированно по ЕКП (1 283 позиции), без нейросети.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Разбор сверяет скрытую истину, стенограмму и карточку: «выяснил» или «угадал», у каждой ошибки — цена.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ДДС: статусы по памятке, нормативы заказчика 30 с и 3 мин, бригада и доклады старшего.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Модель GigaChat 3.1 10B-A1.8B на llama.cpp с MTP (+44 %), ответы по схеме JSON; анализ текста курсанта с проверкой цитат.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Для учебного центра: подготовка операторов 112 и ДДС на копии боевого интерфейса, без доступа к боевой системе.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Преподаватель готовит вызовы из билетов перепиской с моделью, проводит занятия, ставит экспертную оценку.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Аналитика группы: ошибки, прогноз результата и рекомендации — каждое сверено с фактом и базовой линией.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Развитие: голосовой канал, подбор служб по территории — после данных заказчика.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 marL="0" indent="0">
              <a:spcAft>
                <a:spcPts val="1000"/>
              </a:spcAft>
              <a:buNone/>
            </a:pPr>
            <a:r>
              <a:rPr sz="1500" b="1">
                <a:solidFill>
                  <a:srgbClr val="FF0053"/>
                </a:solidFill>
              </a:rPr>
              <a:t>[ПРОВЕРИТЬ после слияния ночной работы:]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500">
                <a:solidFill>
                  <a:srgbClr val="1C1D22"/>
                </a:solidFill>
              </a:rPr>
              <a:t>Голос на процессоре: распознавание GigaAM-v3, синтез TeraTTSv2 — разговор ДДС со старшим бригады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500">
                <a:solidFill>
                  <a:srgbClr val="1C1D22"/>
                </a:solidFill>
              </a:rPr>
              <a:t>Доклад диспетчера вышестоящему начальнику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500">
                <a:solidFill>
                  <a:srgbClr val="1C1D22"/>
                </a:solidFill>
              </a:rPr>
              <a:t>Марафон — экзамен из 5–10 вызовов; блиц — отработка части карточки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500">
                <a:solidFill>
                  <a:srgbClr val="1C1D22"/>
                </a:solidFill>
              </a:rPr>
              <a:t>Профиль GPU: Qwen3.8-27B в vLLM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500">
                <a:solidFill>
                  <a:srgbClr val="1C1D22"/>
                </a:solidFill>
              </a:rPr>
              <a:t>После данных заказчика: подбор служб по территории и подчинённости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500">
                <a:solidFill>
                  <a:srgbClr val="1C1D22"/>
                </a:solidFill>
              </a:rPr>
              <a:t>Репозиторий и стенд: [ЗАПОЛНИТЬ: ссылки]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310F53"/>
                </a:solidFill>
              </a:rPr>
              <a:t>ЧТО ДАЛЬШЕ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ОПЕРАТОР 112</a:t>
            </a:r>
          </a:p>
        </p:txBody>
      </p:sp>
      <p:pic>
        <p:nvPicPr>
          <p:cNvPr id="22" name="Picture 21" descr="p02-карточка-112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75170" y="1558043"/>
            <a:ext cx="8079160" cy="4544528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8734331" y="1564256"/>
            <a:ext cx="2982498" cy="465210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Интерфейс снят с кадров боевой ПОВ-112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Заявитель отвечает только на заданный вопрос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Опросная карта растёт по мере ответов — карты у 44 из 51 типа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Службы подбирает классификатор: 1 283 позиции ЕКП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Норматив времени — на экране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310F53"/>
                </a:solidFill>
              </a:rPr>
              <a:t>ДИСПЕТЧЕР ДДС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spcAft>
                <a:spcPts val="1000"/>
              </a:spcAft>
              <a:buNone/>
            </a:pPr>
            <a:r>
              <a:rPr sz="1400">
                <a:solidFill>
                  <a:srgbClr val="1C1D22"/>
                </a:solidFill>
              </a:rPr>
              <a:t>Поток карточек своей службы: у каждой ожидающей свой таймер.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400">
                <a:solidFill>
                  <a:srgbClr val="1C1D22"/>
                </a:solidFill>
              </a:rPr>
              <a:t>Нормативы заказчика: открыть карточку за 30 с, первая запись (статус и текст) — за 3 мин.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400">
                <a:solidFill>
                  <a:srgbClr val="1C1D22"/>
                </a:solidFill>
              </a:rPr>
              <a:t>Статусы строго по памятке; «Не принята» и «Отказ» — только с комментарием.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400">
                <a:solidFill>
                  <a:srgbClr val="1C1D22"/>
                </a:solidFill>
              </a:rPr>
              <a:t>Бригада: назначение, доклады старшего, звонок старшему.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400">
                <a:solidFill>
                  <a:srgbClr val="1C1D22"/>
                </a:solidFill>
              </a:rPr>
              <a:t>Разбор: статус поставлен по факту доклада, а не наугад.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6001" y="1350000"/>
            <a:ext cx="5596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ontserrat"/>
              </a:rPr>
              <a:t>Панель бригады</a:t>
            </a:r>
          </a:p>
        </p:txBody>
      </p:sp>
      <p:pic>
        <p:nvPicPr>
          <p:cNvPr id="11" name="Picture 10" descr="p06-карточка-ддс.png"/>
          <p:cNvPicPr>
            <a:picLocks noChangeAspect="1"/>
          </p:cNvPicPr>
          <p:nvPr/>
        </p:nvPicPr>
        <p:blipFill>
          <a:blip r:embed="rId4"/>
          <a:srcRect t="43060" r="52500" b="40560"/>
          <a:stretch>
            <a:fillRect/>
          </a:stretch>
        </p:blipFill>
        <p:spPr>
          <a:xfrm>
            <a:off x="6346001" y="1857262"/>
            <a:ext cx="5596000" cy="1085476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46001" y="3450000"/>
            <a:ext cx="5596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ontserrat"/>
              </a:rPr>
              <a:t>Своя служба в полосе служб</a:t>
            </a:r>
          </a:p>
        </p:txBody>
      </p:sp>
      <p:pic>
        <p:nvPicPr>
          <p:cNvPr id="13" name="Picture 12" descr="p06-карточка-ддс.png"/>
          <p:cNvPicPr>
            <a:picLocks noChangeAspect="1"/>
          </p:cNvPicPr>
          <p:nvPr/>
        </p:nvPicPr>
        <p:blipFill>
          <a:blip r:embed="rId4"/>
          <a:srcRect l="36720" t="92400" r="37190" b="2040"/>
          <a:stretch>
            <a:fillRect/>
          </a:stretch>
        </p:blipFill>
        <p:spPr>
          <a:xfrm>
            <a:off x="6346001" y="3892048"/>
            <a:ext cx="3469520" cy="41590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310F53"/>
                </a:solidFill>
              </a:rPr>
              <a:t>ОГРАНИЧЕНИЯ —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300000" cy="712587"/>
          </a:xfrm>
        </p:spPr>
        <p:txBody>
          <a:bodyPr anchor="ctr"/>
          <a:lstStyle/>
          <a:p>
            <a:pPr marL="0" indent="0">
              <a:buNone/>
            </a:pPr>
            <a:r>
              <a:rPr sz="1500">
                <a:solidFill>
                  <a:srgbClr val="1C1D22"/>
                </a:solidFill>
              </a:rPr>
              <a:t>Службы подбираются только по типу происшествия: справочника «адрес → службы» у заказчика нет.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300000" cy="712587"/>
          </a:xfrm>
        </p:spPr>
        <p:txBody>
          <a:bodyPr anchor="ctr"/>
          <a:lstStyle/>
          <a:p>
            <a:pPr marL="0" indent="0">
              <a:buNone/>
            </a:pPr>
            <a:r>
              <a:rPr sz="1500">
                <a:solidFill>
                  <a:srgbClr val="1C1D22"/>
                </a:solidFill>
              </a:rPr>
              <a:t>Анализ текста не сверен с экспертами на выборке; вид замечания модель путает — решение за преподавателем.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300000" cy="712587"/>
          </a:xfrm>
        </p:spPr>
        <p:txBody>
          <a:bodyPr anchor="ctr"/>
          <a:lstStyle/>
          <a:p>
            <a:pPr marL="0" indent="0">
              <a:buNone/>
            </a:pPr>
            <a:r>
              <a:rPr sz="1500">
                <a:solidFill>
                  <a:srgbClr val="1C1D22"/>
                </a:solidFill>
              </a:rPr>
              <a:t>Скорость модели на настольном i7 не измерена: 14,8 ток/с — на EPYC с восемью каналами памяти.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300000" cy="712587"/>
          </a:xfrm>
        </p:spPr>
        <p:txBody>
          <a:bodyPr anchor="ctr"/>
          <a:lstStyle/>
          <a:p>
            <a:pPr marL="0" indent="0">
              <a:buNone/>
            </a:pPr>
            <a:r>
              <a:rPr sz="1500">
                <a:solidFill>
                  <a:srgbClr val="1C1D22"/>
                </a:solidFill>
              </a:rPr>
              <a:t>Эталонная версия классификатора (v046_24 или v046_11) заказчиком не определена; активна v046_24.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300000" cy="712587"/>
          </a:xfrm>
        </p:spPr>
        <p:txBody>
          <a:bodyPr anchor="ctr"/>
          <a:lstStyle/>
          <a:p>
            <a:pPr marL="0" indent="0">
              <a:buNone/>
            </a:pPr>
            <a:r>
              <a:rPr sz="1500">
                <a:solidFill>
                  <a:srgbClr val="1C1D22"/>
                </a:solidFill>
              </a:rPr>
              <a:t>Сообщения ДДС в 112 об ошибке в карточке нет: примеров ошибок заказчик не дал.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310F53"/>
                </a:solidFill>
              </a:rPr>
              <a:t>Оператор 112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Принимает учебный вызов, выясняет обстоятельства у заявителя, заполняет карточку и опросную карту. Службы подбирает классификатор, оператор может добавить вручную.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310F53"/>
                </a:solidFill>
              </a:rPr>
              <a:t>Диспетчер ДДС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Получает поток карточек своей службы, принимает или мотивированно отклоняет, назначает бригаду и ставит статусы по докладам старшего.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310F53"/>
                </a:solidFill>
              </a:rPr>
              <a:t>Преподаватель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Готовит учебные вызовы с помощью модели и утверждает их, проводит занятия в режимах 112 и ДДС, ставит экспертную оценку, смотрит аналитику группы.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310F53"/>
                </a:solidFill>
              </a:rPr>
              <a:t>Администратор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Учётные записи и роли, версии классификатора, журнал действий, состояние сервера. Оценок не ставит.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РОЛИ И РЕЖИМЫ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310F53"/>
                </a:solidFill>
              </a:rPr>
              <a:t>Клиент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React 19, TypeScript. Работает в браузере, ставить на рабочие места ничего не нужно.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310F53"/>
                </a:solidFill>
              </a:rPr>
              <a:t>Сервер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Rust (axum), PostgreSQL 16. Роли, классификатор, статусы, сторож нормативов, отчёты, OpenAPI. Ежесуточные резервные копии.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310F53"/>
                </a:solidFill>
              </a:rPr>
              <a:t>Модель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Сервер с API, совместимым с OpenAI; адрес — ML_BASE_URL. Профиль ЦП: GigaChat 3.1 в llama.cpp. Профиль GPU: Qwen3.8-27B в vLLM [ПРОВЕРИТЬ]. Внешних обращений нет.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310F53"/>
                </a:solidFill>
              </a:rPr>
              <a:t>АРХИТЕКТУРА И ЗАКРЫТЫЙ КОНТУР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888" y="6260000"/>
            <a:ext cx="11000000" cy="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Всё разворачивается одной командой deploy/up.sh (docker compose) без выхода в интернет.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571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РАЗБОР И ЭКСПЕРТНАЯ ОЦЕНКА</a:t>
            </a:r>
          </a:p>
        </p:txBody>
      </p:sp>
      <p:pic>
        <p:nvPicPr>
          <p:cNvPr id="24" name="Picture 23" descr="p08-экспертная-оценка.png"/>
          <p:cNvPicPr>
            <a:picLocks noChangeAspect="1"/>
          </p:cNvPicPr>
          <p:nvPr/>
        </p:nvPicPr>
        <p:blipFill>
          <a:blip r:embed="rId3"/>
          <a:srcRect l="400" t="31500" r="52500" b="10500"/>
          <a:stretch>
            <a:fillRect/>
          </a:stretch>
        </p:blipFill>
        <p:spPr>
          <a:xfrm>
            <a:off x="346075" y="1196736"/>
            <a:ext cx="7300000" cy="5056528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7950000" y="1350000"/>
            <a:ext cx="3900000" cy="4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1">
                <a:solidFill>
                  <a:srgbClr val="1C1D22"/>
                </a:solidFill>
                <a:latin typeface="Montserrat"/>
              </a:rPr>
              <a:t>Правила. </a:t>
            </a:r>
            <a:r>
              <a:rPr sz="1300" b="0">
                <a:solidFill>
                  <a:srgbClr val="1C1D22"/>
                </a:solidFill>
                <a:latin typeface="Montserrat"/>
              </a:rPr>
              <a:t>«Угадал» — значение верное, но заявитель его не сообщал; «не заполнено», «лишняя служба» — с ценой ошибки.</a:t>
            </a:r>
          </a:p>
          <a:p>
            <a:pPr algn="l">
              <a:spcAft>
                <a:spcPts val="1200"/>
              </a:spcAft>
            </a:pPr>
            <a:r>
              <a:rPr sz="1300" b="1">
                <a:solidFill>
                  <a:srgbClr val="1C1D22"/>
                </a:solidFill>
                <a:latin typeface="Montserrat"/>
              </a:rPr>
              <a:t>Нейросеть.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Сверяет описание курсанта с тем, что он слышал. Каждое замечание — с цитатой, цитату проверяет код.</a:t>
            </a:r>
          </a:p>
          <a:p>
            <a:pPr algn="l">
              <a:spcAft>
                <a:spcPts val="1200"/>
              </a:spcAft>
            </a:pPr>
            <a:r>
              <a:rPr sz="1300" b="1">
                <a:solidFill>
                  <a:srgbClr val="1C1D22"/>
                </a:solidFill>
                <a:latin typeface="Montserrat"/>
              </a:rPr>
              <a:t>Преподаватель.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Подтверждает или отклоняет замечания и ставит экспертную оценку рядом с автоматической. Балл модель не меняет.</a:t>
            </a:r>
          </a:p>
          <a:p>
            <a:pPr algn="l">
              <a:spcAft>
                <a:spcPts val="1200"/>
              </a:spcAft>
            </a:pPr>
            <a:r>
              <a:rPr sz="1300" b="1">
                <a:solidFill>
                  <a:srgbClr val="1C1D22"/>
                </a:solidFill>
                <a:latin typeface="Montserrat"/>
              </a:rPr>
              <a:t>На кадре: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описание «горит баня, есть пострадавший, дом газифицирован» при разговоре о горящей крыше дома без пострадавших.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455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455000" cy="376138"/>
          </a:xfrm>
        </p:spPr>
        <p:txBody>
          <a:bodyPr/>
          <a:lstStyle/>
          <a:p>
            <a:r>
              <a:t>СООТВЕТСТВИЕ ТЗ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46075" y="1130000"/>
          <a:ext cx="11500000" cy="4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0000"/>
                <a:gridCol w="5700000"/>
                <a:gridCol w="1500000"/>
              </a:tblGrid>
              <a:tr h="40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Требование ТЗ</a:t>
                      </a:r>
                    </a:p>
                  </a:txBody>
                  <a:tcPr marL="90000" marR="90000" marT="30000" marB="30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Как закрыто</a:t>
                      </a:r>
                    </a:p>
                  </a:txBody>
                  <a:tcPr marL="90000" marR="90000" marT="30000" marB="30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Статус</a:t>
                      </a:r>
                    </a:p>
                  </a:txBody>
                  <a:tcPr marL="90000" marR="90000" marT="30000" marB="30000" anchor="ctr">
                    <a:solidFill>
                      <a:srgbClr val="310F53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Интерфейс АРМ-112, участки 112 и ДДС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Копия по кадрам боевой системы; журнал, карточка 112, карточка ДДС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Классификация и оповещение по ЕКП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Детерминированный поиск по 1 283 позициям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Контроль временных нормативов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Норматив вызова 112; ДДС — 30 с и 3 мин по ответу заказчика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Оценка на основе нейросетевого анализа, анализ ручного ввода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Анализ текста с проверкой цитат; с экспертами на выборке не сверен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Автоматическая и экспертная оценка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Оба балла рядом, каждое изменение — в журнале действий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Генерация и утверждение сценариев нейросетью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Подготовка из билетов, правка перепиской, утверждение преподавателем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Закрытый контур, сервер ИИ без видеокарты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Локальная модель на процессоре; адрес задаётся ML_BASE_URL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Голос (VoIP)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[ПРОВЕРИТЬ после слияния голоса]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0053"/>
                          </a:solidFill>
                          <a:latin typeface="Montserrat"/>
                        </a:rPr>
                        <a:t>[ПРОВЕРИТЬ]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Нагрузка: 2 с при 100 пользователях, 20 сессий, 100 записей/с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[ПРОВЕРИТЬ после нагрузочных замеров]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0053"/>
                          </a:solidFill>
                          <a:latin typeface="Montserrat"/>
                        </a:rPr>
                        <a:t>[ПРОВЕРИТЬ]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Резервное копирование не реже раза в сутки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Ежесуточный pg_dump с ротацией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90000" marR="90000" marT="30000" marB="30000" anchor="ctr">
                    <a:solidFill>
                      <a:srgbClr val="F3F0FA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Дообучение по поправкам преподавателя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Переписка подаётся модели в контекст; веса не меняются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</a:t>
                      </a:r>
                    </a:p>
                  </a:txBody>
                  <a:tcPr marL="90000" marR="90000" marT="30000" marB="3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4275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spcAft>
                <a:spcPts val="1200"/>
              </a:spcAft>
              <a:buNone/>
            </a:pPr>
            <a:r>
              <a:rPr sz="1500">
                <a:solidFill>
                  <a:srgbClr val="1C1D22"/>
                </a:solidFill>
              </a:rPr>
              <a:t>Модель — GigaChat 3.1 10B-A1.8B, локально на процессоре.</a:t>
            </a:r>
          </a:p>
          <a:p>
            <a:pPr algn="l" marL="0" indent="0">
              <a:spcAft>
                <a:spcPts val="1200"/>
              </a:spcAft>
              <a:buNone/>
            </a:pPr>
            <a:r>
              <a:rPr sz="1500">
                <a:solidFill>
                  <a:srgbClr val="1C1D22"/>
                </a:solidFill>
              </a:rPr>
              <a:t>Эталон для оценки она не считает никогда — его считает классификатор.</a:t>
            </a:r>
          </a:p>
          <a:p>
            <a:pPr algn="l" marL="0" indent="0">
              <a:spcAft>
                <a:spcPts val="1200"/>
              </a:spcAft>
              <a:buNone/>
            </a:pPr>
            <a:r>
              <a:rPr sz="1500">
                <a:solidFill>
                  <a:srgbClr val="1C1D22"/>
                </a:solidFill>
              </a:rPr>
              <a:t>Ответ ограничен схемой JSON на уровне декодирования.</a:t>
            </a:r>
          </a:p>
          <a:p>
            <a:pPr algn="l" marL="0" indent="0">
              <a:spcAft>
                <a:spcPts val="1200"/>
              </a:spcAft>
              <a:buNone/>
            </a:pPr>
            <a:r>
              <a:rPr sz="1500">
                <a:solidFill>
                  <a:srgbClr val="1C1D22"/>
                </a:solidFill>
              </a:rPr>
              <a:t>Пока курсант ведёт вызов, модель не вызывается: ответы заявителя подготовлены заранее и утверждены преподавателем.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Подготовка учебных вызовов из 96 обращений билетов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Правка вызова перепиской с преподавателем — видна фактическая разница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Анализ свободного текста курсанта с проверкой цитат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Словесная сводка по группе из уже посчитанных чисел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Прогноз результата — гребневая регрессия, рядом базовая линия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КАК ИСПОЛЬЗУЕТСЯ ИИ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sz="2800" b="1">
                <a:solidFill>
                  <a:srgbClr val="FF0053"/>
                </a:solidFill>
              </a:rPr>
              <a:t>+44 %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скорость от спекулятивного декодирования MTP; принимается 73 % черновых токенов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sz="2800" b="1">
                <a:solidFill>
                  <a:srgbClr val="FF0053"/>
                </a:solidFill>
              </a:rPr>
              <a:t>26–33 с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анализ текста курсанта на процессоре — в фоновой очереди, разбор правил приходит сразу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sz="2800" b="1">
                <a:solidFill>
                  <a:srgbClr val="FF0053"/>
                </a:solidFill>
              </a:rPr>
              <a:t>278 + 61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проверок сервера и сценариев в браузере [ПРОВЕРИТЬ числа после слияния]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r>
              <a:t>ЗАМЕРЫ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880000"/>
            <a:ext cx="5749925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ontserrat"/>
              </a:rPr>
              <a:t>Скорость генерации GigaChat 3.1 на процессоре: EPYC 7532, 6 потоков, 8 каналов памяти — потолок, не пол. На i7 не мерили.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sz="1600" b="1">
                <a:solidFill>
                  <a:srgbClr val="FF0053"/>
                </a:solidFill>
              </a:rPr>
              <a:t>Вызов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Заявитель сообщает часть фактов, остальное — только на вопрос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sz="1600" b="1">
                <a:solidFill>
                  <a:srgbClr val="FF0053"/>
                </a:solidFill>
              </a:rPr>
              <a:t>ДДС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Поток карточек: открыть за 30 с, первая запись — за 3 мин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sz="1600" b="1">
                <a:solidFill>
                  <a:srgbClr val="FF0053"/>
                </a:solidFill>
              </a:rPr>
              <a:t>Разбор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Выяснил или угадал, анализ текста, экспертная оценка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sz="1600" b="1">
                <a:solidFill>
                  <a:srgbClr val="FF0053"/>
                </a:solidFill>
              </a:rPr>
              <a:t>Карточка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Опросная карта; службы подбирает классификатор ЕКП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sz="1600" b="1">
                <a:solidFill>
                  <a:srgbClr val="FF0053"/>
                </a:solidFill>
              </a:rPr>
              <a:t>Бригада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Назначение, доклады старшего, статусы по факту доклада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СКВОЗНОЙ ПУТЬ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ПРЕПОДАВАТЕЛЬ</a:t>
            </a:r>
          </a:p>
        </p:txBody>
      </p:sp>
      <p:pic>
        <p:nvPicPr>
          <p:cNvPr id="56" name="Picture 55" descr="p10-подготовка-вызовов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6075" y="1325000"/>
            <a:ext cx="5600000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7" name="TextBox 56"/>
          <p:cNvSpPr txBox="1"/>
          <p:nvPr/>
        </p:nvSpPr>
        <p:spPr>
          <a:xfrm>
            <a:off x="346075" y="4800000"/>
            <a:ext cx="560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C1D22"/>
                </a:solidFill>
                <a:latin typeface="Montserrat"/>
              </a:rPr>
              <a:t>Подготовка вызовов.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Переписка с моделью: «поменяй ФИО», «добавь, что идёт пламя». Эталон пересчитывает классификатор; курсанты видят вызов только после утверждения.</a:t>
            </a:r>
          </a:p>
        </p:txBody>
      </p:sp>
      <p:pic>
        <p:nvPicPr>
          <p:cNvPr id="58" name="Picture 57" descr="p11-аналитика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246075" y="1325000"/>
            <a:ext cx="5600000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9" name="TextBox 58"/>
          <p:cNvSpPr txBox="1"/>
          <p:nvPr/>
        </p:nvSpPr>
        <p:spPr>
          <a:xfrm>
            <a:off x="6246075" y="4800000"/>
            <a:ext cx="560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C1D22"/>
                </a:solidFill>
                <a:latin typeface="Montserrat"/>
              </a:rPr>
              <a:t>Аналитика группы.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Выяснил или угадал, тепловая карта ошибок, прогноз результата и рекомендации — рядом с базовой линией.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