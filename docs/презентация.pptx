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376" r:id="rId45"/>
    <p:sldId id="377" r:id="rId46"/>
    <p:sldId id="378" r:id="rId47"/>
    <p:sldId id="379" r:id="rId48"/>
    <p:sldId id="380" r:id="rId49"/>
    <p:sldId id="381" r:id="rId50"/>
    <p:sldId id="382" r:id="rId51"/>
    <p:sldId id="383" r:id="rId52"/>
    <p:sldId id="384" r:id="rId53"/>
    <p:sldId id="385" r:id="rId54"/>
    <p:sldId id="386" r:id="rId55"/>
    <p:sldId id="387" r:id="rId56"/>
    <p:sldId id="388" r:id="rId57"/>
    <p:sldId id="389" r:id="rId58"/>
    <p:sldId id="390" r:id="rId59"/>
    <p:sldId id="391" r:id="rId60"/>
    <p:sldId id="392" r:id="rId61"/>
    <p:sldId id="393" r:id="rId62"/>
    <p:sldId id="394" r:id="rId63"/>
    <p:sldId id="395" r:id="rId64"/>
    <p:sldId id="396" r:id="rId65"/>
    <p:sldId id="397" r:id="rId66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2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27.png"/><Relationship Id="rId3" Type="http://schemas.openxmlformats.org/officeDocument/2006/relationships/image" Target="../media/image82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29.png"/><Relationship Id="rId3" Type="http://schemas.openxmlformats.org/officeDocument/2006/relationships/image" Target="../media/image830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4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4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5.png"/><Relationship Id="rId3" Type="http://schemas.openxmlformats.org/officeDocument/2006/relationships/image" Target="../media/image836.png"/><Relationship Id="rId4" Type="http://schemas.openxmlformats.org/officeDocument/2006/relationships/image" Target="../media/image83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38.png"/><Relationship Id="rId3" Type="http://schemas.openxmlformats.org/officeDocument/2006/relationships/image" Target="../media/image839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40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41.png"/><Relationship Id="rId3" Type="http://schemas.openxmlformats.org/officeDocument/2006/relationships/image" Target="../media/image84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t>Тренажёр оператора ДДС и АРМ-112 с ИИ</a:t>
            </a:r>
          </a:p>
        </p:txBody>
      </p:sp>
      <p:pic>
        <p:nvPicPr>
          <p:cNvPr id="4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305186" y="475579"/>
            <a:ext cx="5193299" cy="791032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r>
              <a:t>Задача №9 · Департамент ГОЧСиПБ города Москвы</a:t>
            </a:r>
          </a:p>
          <a:p>
            <a:pPr indent="268288"/>
            <a:r>
              <a:t>Команда ELABS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Проверяем то, что просил заказчик: сказанное заявителем против заполненного курсантом. Нейросеть объясняет ошибки цитатами, которые проверяет код; прогноз и рекомендации сверяются с фактом.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Денис Петров, ML-инженер: синтез и распознавание речи, LLM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2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дружим со школы, с пятого класса; объединили опыт в речевых технологиях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студенты 1 курса МТИ и МАИ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</a:t>
            </a:r>
            <a:r>
              <a:rPr lang="ru-RU" dirty="0">
                <a:solidFill>
                  <a:schemeClr val="tx1"/>
                </a:solidFill>
              </a:rPr>
              <a:t> Москва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Веб-тренажёр в интерфейсе боевой ПОВ-112: оператор 112 принимает учебный вызов и заполняет карточку, диспетчер ДДС ведёт реагирование бригады. Эталон считает классификатор ЕКП; нейросети, голос и проверка текста работают локально, в закрытом контуре.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610937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628165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Фуллстек-разработчик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Telegram: @Angel3044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+7 914 883-66-57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МАИ, 1 курс, ТОП-ИТ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628165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Александр Головченко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804053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4039374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6344444" y="1826554"/>
            <a:ext cx="1722566" cy="1542401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t>КОМАНДА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976337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Капитан, ML-инженер: синтез и распознавание речи, LLM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Telegram: @bceloss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+7 901 664-73-53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МТИ, 1 курс, «Информационные системы и технологии»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3976336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Денис Петров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Дружим со школы, с пятого класса. Денис несколько лет занимается синтезом речи и аудиокодеками: собрал открытый русскоязычный речевой корпус ESpeech и выводил TTS в прод для голосового агента.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Реалистичный голос в реальном времени без GPU — обучили облегчённую модель синтеза под CPU; в llama.cpp добавили MTP для GigaChat 3.1 (+44 % скорости). Нормативы ДДС заказчик определил 27.09 — перестроили отсчёт времени и поток карточек.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Совмещали с учёбой и работой: всё делали вечерами и в дороге.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Объединить опыт в речевых технологиях и сделать продукт, который реально можно поставить на обычное железо.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Сервер на Rust (axum) и PostgreSQL, клиент на React; закрытый контур, развёртывание одной командой.</a:t>
            </a:r>
          </a:p>
          <a:p>
            <a:r>
              <a:rPr lang="ru-RU" sz="1400" dirty="0">
                <a:solidFill>
                  <a:schemeClr val="tx1"/>
                </a:solidFill>
              </a:rPr>
              <a:t>Эталон — детерминированно по классификатору ЕКП (1 283 позиции).</a:t>
            </a:r>
          </a:p>
          <a:p>
            <a:r>
              <a:rPr lang="ru-RU" sz="1400" dirty="0">
                <a:solidFill>
                  <a:schemeClr val="tx1"/>
                </a:solidFill>
              </a:rPr>
              <a:t>Нейросетевая оценка: сказанное заявителем против заполненного, каждое замечание — с цитатой, которую проверяет код.</a:t>
            </a:r>
          </a:p>
          <a:p>
            <a:r>
              <a:rPr lang="ru-RU" sz="1400" dirty="0">
                <a:solidFill>
                  <a:schemeClr val="tx1"/>
                </a:solidFill>
              </a:rPr>
              <a:t>ДДС по ответам заказчика: поток карточек, 30 с / 3 мин, бригада, голос со старшим и начальником.</a:t>
            </a:r>
          </a:p>
          <a:p>
            <a:r>
              <a:rPr lang="ru-RU" sz="1400" dirty="0">
                <a:solidFill>
                  <a:schemeClr val="tx1"/>
                </a:solidFill>
              </a:rPr>
              <a:t>Два профиля моделей: CPU — GigaChat 3.1 и кросс-энкодер, GPU — Gemma 4; адрес модели — одна переменная.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Для учебного центра: подготовка операторов 112 и ДДС на копии боевого интерфейса, без доступа к боевой системе.</a:t>
            </a:r>
          </a:p>
          <a:p>
            <a:r>
              <a:rPr lang="ru-RU" sz="1400" dirty="0">
                <a:solidFill>
                  <a:schemeClr val="tx1"/>
                </a:solidFill>
              </a:rPr>
              <a:t>Преподаватель готовит вызовы с моделью, проводит занятия, марафон и блиц, ставит экспертную оценку.</a:t>
            </a:r>
          </a:p>
          <a:p>
            <a:r>
              <a:rPr lang="ru-RU" sz="1400" dirty="0">
                <a:solidFill>
                  <a:schemeClr val="tx1"/>
                </a:solidFill>
              </a:rPr>
              <a:t>Аналитика группы: ошибки, прогноз результата и рекомендации — каждое сверено с фактом и базовой линией.</a:t>
            </a:r>
          </a:p>
          <a:p>
            <a:r>
              <a:rPr lang="ru-RU" sz="1400" dirty="0">
                <a:solidFill>
                  <a:schemeClr val="tx1"/>
                </a:solidFill>
              </a:rPr>
              <a:t>Развитие: подбор служб по территории — после справочника заказчика; SIP-телефония.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24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600" b="1">
                <a:solidFill>
                  <a:srgbClr val="FFFFFF"/>
                </a:solidFill>
                <a:latin typeface="Montserrat"/>
              </a:rPr>
              <a:t>КАРТА СООТВЕТСТВИЯ: ВОПРОС → ОТВЕТ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46075" y="1090000"/>
          <a:ext cx="11500000" cy="501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000"/>
                <a:gridCol w="2600000"/>
                <a:gridCol w="700000"/>
                <a:gridCol w="2700000"/>
              </a:tblGrid>
              <a:tr h="22800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Montserrat"/>
                        </a:rPr>
                        <a:t>Что спрашивают эксперты и заказчик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Montserrat"/>
                        </a:rPr>
                        <a:t>Откуда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Montserrat"/>
                        </a:rPr>
                        <a:t>Слайд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Montserrat"/>
                        </a:rPr>
                        <a:t>Статус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Нейросетевой анализ ручного ввода: сказанное против заполненного, службы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ТЗ, постановка; Q&amp;A, чат № 642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7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Карточка и реестр похожи на 100 %, цвета и конфигурация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Чат № 679, 680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8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Две роли; карточки курсантов 112 к ДДС не попадают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Чат № 624, 628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9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ДДС: поток карточек, 30 с / 3 мин, статусы, бригада вручную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Чат № 684, 701, 709, 781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10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Голос ДДС со старшим бригады и начальником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Чат № 781; Q&amp;A № 576, 638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11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Разговор с заявителем — «будет плюсом»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Чат № 781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12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0053"/>
                          </a:solidFill>
                          <a:latin typeface="Montserrat"/>
                        </a:rPr>
                        <a:t>сверх MVP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Прогноз и его достоверность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Критерии ТЗ, п. 3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13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B85C00"/>
                          </a:solidFill>
                          <a:latin typeface="Montserrat"/>
                        </a:rPr>
                        <a:t>частично — на малых данных ≈ среднему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Рекомендации и проверка их исполнения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Критерии ТЗ, п. 3–4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14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B85C00"/>
                          </a:solidFill>
                          <a:latin typeface="Montserrat"/>
                        </a:rPr>
                        <a:t>частично — механизм, не польза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Создавать и утверждать сценарии, в т. ч. нейросетью; назначать задания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ТЗ, роль преподавателя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15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Мониторинг выполнения заданий в реальном времени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ТЗ, роль преподавателя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16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Критерии успешности; изменение оценок — с журналом аудита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ТЗ, роль преподавателя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17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Дополнительные настраиваемые параметры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Критерии ТЗ, п. 3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17, 18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Объективность диаграмм; прогресс по группе и по ученику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Критерии ТЗ, п. 3; роль преп.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19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Полный контроль преподавателя; автоматическая + экспертная оценка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ТЗ, роль преподавателя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20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Дообучение по поправкам преподавателя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Чат № 781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20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B85C00"/>
                          </a:solidFill>
                          <a:latin typeface="Montserrat"/>
                        </a:rPr>
                        <a:t>частично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Закрытый контур, адрес локальной модели, железо из ТЗ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ТЗ; чат № 710, 746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21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Скорость работы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Критерии ТЗ, п. 2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22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Нефункциональные требования: 100 польз., 20 сессий, сбой сети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ТЗ, §7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23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Интеграция в другие системы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Критерии ТЗ, п. 2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24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Качество кода и документация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Критерии ТЗ, п. 2 и 4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25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B7F3B"/>
                          </a:solidFill>
                          <a:latin typeface="Montserrat"/>
                        </a:rPr>
                        <a:t>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2800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Службы по району обслуживания и подчинённости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Чат № 690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C1D22"/>
                          </a:solidFill>
                          <a:latin typeface="Montserrat"/>
                        </a:rPr>
                        <a:t>26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0053"/>
                          </a:solidFill>
                          <a:latin typeface="Montserrat"/>
                        </a:rPr>
                        <a:t>нет — ограничение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критерии предварительной и финальной экспертизы ТЗ; ответы заказчика и организаторов в чате задачи №9 (номера сообщений); сессия вопросов и ответов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150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200" b="1">
                <a:solidFill>
                  <a:srgbClr val="FFFFFF"/>
                </a:solidFill>
                <a:latin typeface="Montserrat"/>
              </a:rPr>
              <a:t>НЕЙРОСЕТЕВАЯ ОЦЕНКА: СКАЗАННОЕ ПРОТИВ ЗАПОЛНЕННОГО</a:t>
            </a:r>
          </a:p>
        </p:txBody>
      </p:sp>
      <p:pic>
        <p:nvPicPr>
          <p:cNvPr id="3" name="Picture 2" descr="p08-экспертная-оценка.png"/>
          <p:cNvPicPr>
            <a:picLocks noChangeAspect="1"/>
          </p:cNvPicPr>
          <p:nvPr/>
        </p:nvPicPr>
        <p:blipFill>
          <a:blip r:embed="rId2"/>
          <a:srcRect l="400" t="31500" r="52500" b="10500"/>
          <a:stretch>
            <a:fillRect/>
          </a:stretch>
        </p:blipFill>
        <p:spPr>
          <a:xfrm>
            <a:off x="346075" y="1443073"/>
            <a:ext cx="6300000" cy="4363853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4" name="Rounded Rectangle 3"/>
          <p:cNvSpPr/>
          <p:nvPr/>
        </p:nvSpPr>
        <p:spPr>
          <a:xfrm>
            <a:off x="6896075" y="1150000"/>
            <a:ext cx="4950000" cy="1130000"/>
          </a:xfrm>
          <a:prstGeom prst="roundRect">
            <a:avLst>
              <a:gd name="adj" fmla="val 6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96075" y="1150000"/>
            <a:ext cx="55000" cy="1130000"/>
          </a:xfrm>
          <a:prstGeom prst="rect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76075" y="1240000"/>
            <a:ext cx="4650000" cy="9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10F53"/>
                </a:solidFill>
                <a:latin typeface="Montserrat"/>
              </a:rPr>
              <a:t>«проверяется соответствие того, что было сообщено голосом с тем, что он заполнил в карточке, какие службы выбрал»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310F53"/>
                </a:solidFill>
                <a:latin typeface="Montserrat"/>
              </a:rPr>
              <a:t>— сессия Q&amp;A, чат № 642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96075" y="2380000"/>
            <a:ext cx="4950000" cy="21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6075" y="2490000"/>
            <a:ext cx="4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сделано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6075" y="2870000"/>
            <a:ext cx="4650000" cy="15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Правила: у каждого факта сценария — «выяснил» или «угадал»; службы сверяются с классификатором ЕКП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Нейросеть читает описание курсанта против реплик заявителя: упущено, противоречит, добавлено от себя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Цитату каждого замечания проверяет код — выдуманная отбрасывается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Преподаватель подтверждает замечания и ставит экспертную оценку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96075" y="4630000"/>
            <a:ext cx="4950000" cy="147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6075" y="4740000"/>
            <a:ext cx="4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Проверено на 66 парах «описание — факт»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6075" y="5120000"/>
            <a:ext cx="46500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1">
                <a:solidFill>
                  <a:srgbClr val="1C1D22"/>
                </a:solidFill>
                <a:latin typeface="Montserrat"/>
              </a:rPr>
              <a:t>GPU, Gemma 4: </a:t>
            </a:r>
            <a:r>
              <a:rPr sz="1050" b="0">
                <a:solidFill>
                  <a:srgbClr val="1C1D22"/>
                </a:solidFill>
                <a:latin typeface="Montserrat"/>
              </a:rPr>
              <a:t>94 %, 0,45 с на описание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1">
                <a:solidFill>
                  <a:srgbClr val="1C1D22"/>
                </a:solidFill>
                <a:latin typeface="Montserrat"/>
              </a:rPr>
              <a:t>CPU, кросс-энкодер OpenJEV 4B: </a:t>
            </a:r>
            <a:r>
              <a:rPr sz="1050" b="0">
                <a:solidFill>
                  <a:srgbClr val="1C1D22"/>
                </a:solidFill>
                <a:latin typeface="Montserrat"/>
              </a:rPr>
              <a:t>91 %, 4,9 с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1">
                <a:solidFill>
                  <a:srgbClr val="1C1D22"/>
                </a:solidFill>
                <a:latin typeface="Montserrat"/>
              </a:rPr>
              <a:t>для сравнения GigaChat: </a:t>
            </a:r>
            <a:r>
              <a:rPr sz="1050" b="0">
                <a:solidFill>
                  <a:srgbClr val="1C1D22"/>
                </a:solidFill>
                <a:latin typeface="Montserrat"/>
              </a:rPr>
              <a:t>73 % — не видит упущенного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ТЗ, постановка задачи — «оценка действий операторов на основе нейросетевого анализа», «анализ ручного ввода текста»; Q&amp;A, чат № 642. Замер — backend/docs/замеры/ОПИСАНИЯ.md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24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UX: КАК В БОЕВОЙ СИСТЕМЕ — 100 %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6075" y="1150000"/>
            <a:ext cx="73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3F0FF"/>
                </a:solidFill>
                <a:latin typeface="Montserrat"/>
              </a:rPr>
              <a:t>Карточка ДДС: кадр боевой системы — экран тренажёра</a:t>
            </a:r>
          </a:p>
        </p:txBody>
      </p:sp>
      <p:pic>
        <p:nvPicPr>
          <p:cNvPr id="4" name="Picture 3" descr="сравнение-карточка-ддс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6075" y="1501508"/>
            <a:ext cx="7300000" cy="2186983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346075" y="3820000"/>
            <a:ext cx="73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3F0FF"/>
                </a:solidFill>
                <a:latin typeface="Montserrat"/>
              </a:rPr>
              <a:t>Реестр происшествий: кадр боевой системы — экран тренажёра</a:t>
            </a:r>
          </a:p>
        </p:txBody>
      </p:sp>
      <p:pic>
        <p:nvPicPr>
          <p:cNvPr id="6" name="Picture 5" descr="сравнение-журнал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46075" y="4171508"/>
            <a:ext cx="7300000" cy="2186983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7896075" y="1150000"/>
            <a:ext cx="3950000" cy="1150000"/>
          </a:xfrm>
          <a:prstGeom prst="roundRect">
            <a:avLst>
              <a:gd name="adj" fmla="val 6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896075" y="1150000"/>
            <a:ext cx="55000" cy="1150000"/>
          </a:xfrm>
          <a:prstGeom prst="rect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76075" y="1240000"/>
            <a:ext cx="3650000" cy="10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10F53"/>
                </a:solidFill>
                <a:latin typeface="Montserrat"/>
              </a:rPr>
              <a:t>«Карточка и реестр обращений 100% должны быть похожи»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310F53"/>
                </a:solidFill>
                <a:latin typeface="Montserrat"/>
              </a:rPr>
              <a:t>— заказчик, чат № 680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96075" y="2450000"/>
            <a:ext cx="3950000" cy="36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075" y="2560000"/>
            <a:ext cx="3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сделано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075" y="2940000"/>
            <a:ext cx="3650000" cy="30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Журнал, карточка 112 и карточка ДДС сняты с кадров: сетка, цвета, полосы служб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Справочники как в боевой: 211 служб в окне «Добавьте службы» — как на 55 кадрах; 51 тип «что случилось?» — написание и порядок по выпадающему списку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Сравнения всех экранов с кадрами — docs/presentation/screens/audit/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Узкий экран — без горизонтальной прокрутки (проверка e2e)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чат № 679, 680 (встреча с заказчиком); ТЗ, «Требования к UX/UI»; критерии финальной экспертизы, п. 4. Справочники — refs/СЛУЖБЫ 112.docx, КАРТОЧКА 112.docx; выписка по кадрам — backend/docs/справочники/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29058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650" b="1">
                <a:solidFill>
                  <a:srgbClr val="FFFFFF"/>
                </a:solidFill>
                <a:latin typeface="Montserrat"/>
              </a:rPr>
              <a:t>ДВЕ РОЛИ: У КАЖДОГО — ТОЛЬКО СВОЁ</a:t>
            </a:r>
          </a:p>
        </p:txBody>
      </p:sp>
      <p:pic>
        <p:nvPicPr>
          <p:cNvPr id="3" name="Picture 2" descr="16-разделы-112.png"/>
          <p:cNvPicPr>
            <a:picLocks noChangeAspect="1"/>
          </p:cNvPicPr>
          <p:nvPr/>
        </p:nvPicPr>
        <p:blipFill>
          <a:blip r:embed="rId2"/>
          <a:srcRect b="54000"/>
          <a:stretch>
            <a:fillRect/>
          </a:stretch>
        </p:blipFill>
        <p:spPr>
          <a:xfrm>
            <a:off x="346075" y="1547266"/>
            <a:ext cx="5625000" cy="1455468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346075" y="3430000"/>
            <a:ext cx="5625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DDD8F5"/>
                </a:solidFill>
                <a:latin typeface="Montserrat"/>
              </a:rPr>
              <a:t>Оператор 112: разделы выданного, статус и балл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6075" y="3800000"/>
            <a:ext cx="5625000" cy="2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96075" y="391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Оператор 112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6075" y="4290000"/>
            <a:ext cx="5325000" cy="18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Три раздела: «Учебные вызовы», «Экзамены», «Тренировка по частям» — только выданное преподавателем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Карточка 112: несколько типов, все уровни признаков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Законченное — только разбор, пройти заново нельзя</a:t>
            </a:r>
          </a:p>
        </p:txBody>
      </p:sp>
      <p:pic>
        <p:nvPicPr>
          <p:cNvPr id="8" name="Picture 7" descr="17-разделы-ддс.png"/>
          <p:cNvPicPr>
            <a:picLocks noChangeAspect="1"/>
          </p:cNvPicPr>
          <p:nvPr/>
        </p:nvPicPr>
        <p:blipFill>
          <a:blip r:embed="rId3"/>
          <a:srcRect b="37000"/>
          <a:stretch>
            <a:fillRect/>
          </a:stretch>
        </p:blipFill>
        <p:spPr>
          <a:xfrm>
            <a:off x="6221075" y="1278320"/>
            <a:ext cx="5625000" cy="1993359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221075" y="3430000"/>
            <a:ext cx="5625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DDD8F5"/>
                </a:solidFill>
                <a:latin typeface="Montserrat"/>
              </a:rPr>
              <a:t>Диспетчер ДДС: те же разделы и лента своей службы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1075" y="3800000"/>
            <a:ext cx="5625000" cy="2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1075" y="391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Диспетчер ДДС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1075" y="4290000"/>
            <a:ext cx="5325000" cy="18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Лента — только учебные происшествия преподавателя: карточки курсантов 112 к ДДС не попадают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Статусы, бригада, доклады старшего и начальнику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Нет доступа к приёму вызова и карточке 112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чат № 624, 628 — «одна учетка, две мини роли»; ТЗ — «назначать учащимся конкретные задания и группы», «разграничение доступа к данным по ролям»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24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ПРОЦЕСС ДДС ПО ОТВЕТАМ ЗАКАЗЧИКА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2725000" cy="12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40000"/>
            <a:ext cx="2425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30 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81960"/>
            <a:ext cx="2425000" cy="5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от появления карточки в списке до её открытия — отметка «Получена службой»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21075" y="1150000"/>
            <a:ext cx="2725000" cy="12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71075" y="1240000"/>
            <a:ext cx="2425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3 мин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71075" y="1681960"/>
            <a:ext cx="2425000" cy="5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на первую запись: статус и текст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075" y="2530000"/>
            <a:ext cx="2725000" cy="12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6075" y="2620000"/>
            <a:ext cx="2425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поток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6075" y="3061960"/>
            <a:ext cx="2425000" cy="5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карточки приходят, пока диспетчер занят; у ожидающих идёт своё время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1075" y="2530000"/>
            <a:ext cx="2725000" cy="12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71075" y="2620000"/>
            <a:ext cx="2425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71075" y="3061960"/>
            <a:ext cx="2425000" cy="5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статусов: принята, не принята, начало реагирования, прибытие, работы, завершение, отказ — отказ только с причиной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6075" y="3950000"/>
            <a:ext cx="5900000" cy="22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6075" y="4060000"/>
            <a:ext cx="56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Бригада и разбор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075" y="4440000"/>
            <a:ext cx="5600000" cy="16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Бригаду диспетчер выбирает вручную, службы в карточку ДДС не добавляет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Старший докладывает сам, или диспетчер звонит ему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Статус засчитывается, только если поставлен по факту доклада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Разбор: открыто вовремя, первая запись, статусы — с ценой ошибки</a:t>
            </a:r>
          </a:p>
        </p:txBody>
      </p:sp>
      <p:pic>
        <p:nvPicPr>
          <p:cNvPr id="18" name="Picture 17" descr="p15-ддс-бригада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496075" y="1678180"/>
            <a:ext cx="5350000" cy="124364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6496075" y="3480000"/>
            <a:ext cx="535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DDD8F5"/>
                </a:solidFill>
                <a:latin typeface="Montserrat"/>
              </a:rPr>
              <a:t>Панель бригады: доклад старшего, звонок, разбор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6075" y="3950000"/>
            <a:ext cx="5350000" cy="1000000"/>
          </a:xfrm>
          <a:prstGeom prst="roundRect">
            <a:avLst>
              <a:gd name="adj" fmla="val 6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96075" y="3950000"/>
            <a:ext cx="55000" cy="1000000"/>
          </a:xfrm>
          <a:prstGeom prst="rect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6075" y="4040000"/>
            <a:ext cx="5050000" cy="8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10F53"/>
                </a:solidFill>
                <a:latin typeface="Montserrat"/>
              </a:rPr>
              <a:t>«30 сек при поступлении карточки… 3 минуты на открытие карточки и добавления первой записи. Статуса и текста»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310F53"/>
                </a:solidFill>
                <a:latin typeface="Montserrat"/>
              </a:rPr>
              <a:t>— заказчик, чат № 781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96075" y="5050000"/>
            <a:ext cx="5350000" cy="1100000"/>
          </a:xfrm>
          <a:prstGeom prst="roundRect">
            <a:avLst>
              <a:gd name="adj" fmla="val 6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96075" y="5050000"/>
            <a:ext cx="55000" cy="1100000"/>
          </a:xfrm>
          <a:prstGeom prst="rect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6075" y="5140000"/>
            <a:ext cx="5050000" cy="9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10F53"/>
                </a:solidFill>
                <a:latin typeface="Montserrat"/>
              </a:rPr>
              <a:t>«Одновременно, как в текущей работе… тайминг идёт и для этой работы и для тех карточек, что в очереди»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310F53"/>
                </a:solidFill>
                <a:latin typeface="Montserrat"/>
              </a:rPr>
              <a:t>— организатор, чат № 709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ответы заказчика в чате № 684 (бригады вручную), 691 (доклады старшего), 701 (службы не добавляются), 709 (поток), 781 (нормативы и статусы)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24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600" b="1">
                <a:solidFill>
                  <a:srgbClr val="FFFFFF"/>
                </a:solidFill>
                <a:latin typeface="Montserrat"/>
              </a:rPr>
              <a:t>ГОЛОС: СТАРШИЙ БРИГАДЫ И НАЧАЛЬНИК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11500000" cy="800000"/>
          </a:xfrm>
          <a:prstGeom prst="roundRect">
            <a:avLst>
              <a:gd name="adj" fmla="val 6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46075" y="1150000"/>
            <a:ext cx="55000" cy="800000"/>
          </a:xfrm>
          <a:prstGeom prst="rect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26075" y="1240000"/>
            <a:ext cx="11200000" cy="6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10F53"/>
                </a:solidFill>
                <a:latin typeface="Montserrat"/>
              </a:rPr>
              <a:t>«голосовое общение ДДС с вышестоящим начальником и ДДС с руководителем бригады… Физический IP-телефон не обязателен, достаточно программной эмуляции»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310F53"/>
                </a:solidFill>
                <a:latin typeface="Montserrat"/>
              </a:rPr>
              <a:t>— чат № 781: заказчик и организатор</a:t>
            </a:r>
          </a:p>
        </p:txBody>
      </p:sp>
      <p:pic>
        <p:nvPicPr>
          <p:cNvPr id="6" name="Picture 5" descr="p16-доклад-начальнику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6075" y="2690132"/>
            <a:ext cx="6300000" cy="1519736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346075" y="4830000"/>
            <a:ext cx="63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DDD8F5"/>
                </a:solidFill>
                <a:latin typeface="Montserrat"/>
              </a:rPr>
              <a:t>Доклад начальнику: вопросы по недоложенному, кнопка «Голосом», затем разбор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96075" y="2100000"/>
            <a:ext cx="4950000" cy="19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6075" y="2210000"/>
            <a:ext cx="4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сделано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6075" y="2590000"/>
            <a:ext cx="4650000" cy="1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Речь курсанта распознаёт GigaAM-v3, ответы озвучивает TeraTTSv2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Всё локально, на процессоре; без SIP — программная эмуляция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Начальник спрашивает только о том, что есть в карточке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96075" y="4150000"/>
            <a:ext cx="2400000" cy="11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6075" y="4240000"/>
            <a:ext cx="2100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F0053"/>
                </a:solidFill>
                <a:latin typeface="Montserrat"/>
              </a:rPr>
              <a:t>0,2–0,3 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6075" y="4608300"/>
            <a:ext cx="2100000" cy="4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распознать фразу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46075" y="4150000"/>
            <a:ext cx="2400000" cy="11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96075" y="4240000"/>
            <a:ext cx="2100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F0053"/>
                </a:solidFill>
                <a:latin typeface="Montserrat"/>
              </a:rPr>
              <a:t>0,5–0,7 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96075" y="4608300"/>
            <a:ext cx="2100000" cy="4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озвучить фразу доклада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6075" y="5300000"/>
            <a:ext cx="11500000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3F0FF"/>
                </a:solidFill>
                <a:latin typeface="Montserrat"/>
              </a:rPr>
              <a:t>Разбор доклада начальнику: </a:t>
            </a:r>
            <a:r>
              <a:rPr sz="1150" b="0">
                <a:solidFill>
                  <a:srgbClr val="F3F0FF"/>
                </a:solidFill>
                <a:latin typeface="Montserrat"/>
              </a:rPr>
              <a:t>что доложено, что нет, что неверно — с цитатами, проверенными кодом; на GPU — 1,3 с. В телефонии заказчик ставил фокус на связи «ДДС — службы» (Q&amp;A, № 638).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чат № 781; сессия Q&amp;A, чат № 576, 638. Замеры — backend/docs/замеры/ГОЛОС.md, доклад-начальнику.md; процессор EPYC 7532, 4 потока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24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СВЕРХ MVP: РАЗГОВОР С ЗАЯВИТЕЛЕМ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7600000" cy="800000"/>
          </a:xfrm>
          <a:prstGeom prst="roundRect">
            <a:avLst>
              <a:gd name="adj" fmla="val 6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46075" y="1150000"/>
            <a:ext cx="55000" cy="800000"/>
          </a:xfrm>
          <a:prstGeom prst="rect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26075" y="1240000"/>
            <a:ext cx="7300000" cy="6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10F53"/>
                </a:solidFill>
                <a:latin typeface="Montserrat"/>
              </a:rPr>
              <a:t>«Диалог с заявителем исключен на этапе MVP, но вы можете его сделать — это будет плюсом»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310F53"/>
                </a:solidFill>
                <a:latin typeface="Montserrat"/>
              </a:rPr>
              <a:t>— заказчик, чат № 781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075" y="2100000"/>
            <a:ext cx="3700000" cy="39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075" y="221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Вопрос своими словами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6075" y="2590000"/>
            <a:ext cx="3400000" cy="33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Голосом или текстом, как в живом разговоре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Модель выбирает факт из закрытого списка сценария — выдумать нечего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Понято 27 из 27 вопросов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Бессмысленные отсеяны: CPU — 5 из 7 за 1,7 с, GPU — 7 из 7 за 0,13 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6075" y="2100000"/>
            <a:ext cx="3700000" cy="39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6075" y="221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Заявитель отвечает голосом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6075" y="2590000"/>
            <a:ext cx="3400000" cy="33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Мужской или женский голос — по отчеству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На GPU — живая реплика модели: 16 из 19 живые, 0,5 с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Реплику проверяют код и вторая модель; не прошла — фраза сценария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«Выяснил / угадал» не зависит от генерации</a:t>
            </a:r>
          </a:p>
        </p:txBody>
      </p:sp>
      <p:pic>
        <p:nvPicPr>
          <p:cNvPr id="12" name="Picture 11" descr="p14-заявитель-своими-словами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8508575" y="1150000"/>
            <a:ext cx="2975000" cy="490000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чат № 781. Замеры — backend/docs/замеры/СВОБОДНЫЙ-ВОПРОС.md, ЖИВОЙ-ЗАЯВИТЕЛЬ.md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164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ПРОГНОЗ И ЕГО ДОСТОВЕРНОСТЬ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5300000" cy="23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60000"/>
            <a:ext cx="50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устроено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40000"/>
            <a:ext cx="5000000" cy="17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50" b="0">
                <a:solidFill>
                  <a:srgbClr val="1C1D22"/>
                </a:solidFill>
                <a:latin typeface="Montserrat"/>
              </a:rPr>
              <a:t>Прогноз балла фиксируется до начала вызова — задним числом не правится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50" b="0">
                <a:solidFill>
                  <a:srgbClr val="1C1D22"/>
                </a:solidFill>
                <a:latin typeface="Montserrat"/>
              </a:rPr>
              <a:t>Факт — после разбора; рядом всегда базовая линия: средний балл курсанта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50" b="0">
                <a:solidFill>
                  <a:srgbClr val="1C1D22"/>
                </a:solidFill>
                <a:latin typeface="Montserrat"/>
              </a:rPr>
              <a:t>Модель — гребневая регрессия по истории курсанта: объяснимо, не переобучается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075" y="3650000"/>
            <a:ext cx="1666666" cy="11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075" y="3740000"/>
            <a:ext cx="1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10,7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6075" y="4145130"/>
            <a:ext cx="1366666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средняя ошибка прогноза, баллов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62741" y="3650000"/>
            <a:ext cx="1666666" cy="11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12741" y="3740000"/>
            <a:ext cx="1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10,9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12741" y="4145130"/>
            <a:ext cx="1366666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та же ошибка у базовой линии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9407" y="3650000"/>
            <a:ext cx="1666666" cy="11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29407" y="3740000"/>
            <a:ext cx="1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56 %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29407" y="4145130"/>
            <a:ext cx="1366666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прогнозов в допуске ±10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6075" y="1200000"/>
            <a:ext cx="5950000" cy="1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3F0FF"/>
                </a:solidFill>
                <a:latin typeface="Montserrat"/>
              </a:rPr>
              <a:t>Честно: </a:t>
            </a:r>
            <a:r>
              <a:rPr sz="1100" b="0">
                <a:solidFill>
                  <a:srgbClr val="F3F0FF"/>
                </a:solidFill>
                <a:latin typeface="Montserrat"/>
              </a:rPr>
              <a:t>на малых данных модель почти не лучше простого среднего — и экран аналитики говорит это сам. Проверка — 110 прогнозов по 10 синтетическим курсантам через API, не реальная группа. Точнее станет с историей реальных курсантов и отбором проверочных попыток.</a:t>
            </a:r>
          </a:p>
        </p:txBody>
      </p:sp>
      <p:pic>
        <p:nvPicPr>
          <p:cNvPr id="16" name="Picture 15" descr="desktop-07-аналитика.png"/>
          <p:cNvPicPr>
            <a:picLocks noChangeAspect="1"/>
          </p:cNvPicPr>
          <p:nvPr/>
        </p:nvPicPr>
        <p:blipFill>
          <a:blip r:embed="rId2"/>
          <a:srcRect t="6400" b="80000"/>
          <a:stretch>
            <a:fillRect/>
          </a:stretch>
        </p:blipFill>
        <p:spPr>
          <a:xfrm>
            <a:off x="346075" y="5085125"/>
            <a:ext cx="11500000" cy="879749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5896075" y="2650000"/>
            <a:ext cx="5950000" cy="1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3F0FF"/>
                </a:solidFill>
                <a:latin typeface="Montserrat"/>
              </a:rPr>
              <a:t>На снимке ниже — </a:t>
            </a:r>
            <a:r>
              <a:rPr sz="1100" b="0">
                <a:solidFill>
                  <a:srgbClr val="F3F0FF"/>
                </a:solidFill>
                <a:latin typeface="Montserrat"/>
              </a:rPr>
              <a:t>блок «Прогноз и факт» в аналитике преподавателя — на копии стенда, где история засорена автотестами: там модель хуже среднего — 11,9 против 10,9, и экран сам пишет «Модель пока не точнее простого среднего — данных мало».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критерии ТЗ: предварительная экспертиза, п. 3 — «проверка прогнозирования (оценка достоверности)»; финальная, п. 3 — «сравнение реальных данных и прогнозных значений». Замер — docs/АУДИТ-ПО-КРИТЕРИЯМ.md, прогноз-эксперимент.py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135294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500" b="1">
                <a:solidFill>
                  <a:srgbClr val="FFFFFF"/>
                </a:solidFill>
                <a:latin typeface="Montserrat"/>
              </a:rPr>
              <a:t>РЕКОМЕНДАЦИИ И ПРОВЕРКА ИХ ИСПОЛНЕНИЯ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5300000" cy="23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60000"/>
            <a:ext cx="50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устроено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40000"/>
            <a:ext cx="5000000" cy="17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50" b="0">
                <a:solidFill>
                  <a:srgbClr val="1C1D22"/>
                </a:solidFill>
                <a:latin typeface="Montserrat"/>
              </a:rPr>
              <a:t>Рекомендация выдаётся, когда ошибка повторилась, — текст из замечаний разбора, модель его не пишет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50" b="0">
                <a:solidFill>
                  <a:srgbClr val="1C1D22"/>
                </a:solidFill>
                <a:latin typeface="Montserrat"/>
              </a:rPr>
              <a:t>Фиксируется с временем; следующий разбор ставит вердикт: ушла ошибка или нет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50" b="0">
                <a:solidFill>
                  <a:srgbClr val="1C1D22"/>
                </a:solidFill>
                <a:latin typeface="Montserrat"/>
              </a:rPr>
              <a:t>Рядом базовая линия: как часто та же ошибка уходит сама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075" y="3650000"/>
            <a:ext cx="1666666" cy="11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075" y="3740000"/>
            <a:ext cx="1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412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6075" y="4145130"/>
            <a:ext cx="1366666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рекомендаций выдано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62741" y="3650000"/>
            <a:ext cx="1666666" cy="11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12741" y="3740000"/>
            <a:ext cx="1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372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12741" y="4145130"/>
            <a:ext cx="1366666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проверено следующим вызовом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9407" y="3650000"/>
            <a:ext cx="1666666" cy="11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29407" y="3740000"/>
            <a:ext cx="1366666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40 %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29407" y="4145130"/>
            <a:ext cx="1366666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из проверенных сработали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6075" y="1200000"/>
            <a:ext cx="5950000" cy="1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3F0FF"/>
                </a:solidFill>
                <a:latin typeface="Montserrat"/>
              </a:rPr>
              <a:t>Честно: </a:t>
            </a:r>
            <a:r>
              <a:rPr sz="1100" b="0">
                <a:solidFill>
                  <a:srgbClr val="F3F0FF"/>
                </a:solidFill>
                <a:latin typeface="Montserrat"/>
              </a:rPr>
              <a:t>проверен механизм, а не польза — синтетические курсанты рекомендаций не читают. «Реальных рекомендаций» для сверки в материалах заказчика нет; на живой группе доля сработавших покажет пользу.</a:t>
            </a:r>
          </a:p>
        </p:txBody>
      </p:sp>
      <p:pic>
        <p:nvPicPr>
          <p:cNvPr id="16" name="Picture 15" descr="desktop-07-аналитика.png"/>
          <p:cNvPicPr>
            <a:picLocks noChangeAspect="1"/>
          </p:cNvPicPr>
          <p:nvPr/>
        </p:nvPicPr>
        <p:blipFill>
          <a:blip r:embed="rId2"/>
          <a:srcRect t="60000" b="23800"/>
          <a:stretch>
            <a:fillRect/>
          </a:stretch>
        </p:blipFill>
        <p:spPr>
          <a:xfrm>
            <a:off x="346075" y="5001031"/>
            <a:ext cx="11500000" cy="1047937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5896075" y="2650000"/>
            <a:ext cx="5950000" cy="1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3F0FF"/>
                </a:solidFill>
                <a:latin typeface="Montserrat"/>
              </a:rPr>
              <a:t>На снимке ниже — </a:t>
            </a:r>
            <a:r>
              <a:rPr sz="1100" b="0">
                <a:solidFill>
                  <a:srgbClr val="F3F0FF"/>
                </a:solidFill>
                <a:latin typeface="Montserrat"/>
              </a:rPr>
              <a:t>блок «Рекомендации и их исполнение» на той же копии стенда: сработали 40 %, а без рекомендации ошибка уходит сама в 44 % — и экран пишет «Пока не видно, что рекомендации помогают сильнее, чем практика сама по себе».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критерии финальной экспертизы ТЗ: п. 3 — «проверка рекомендаций сервиса и реальных рекомендаций»; п. 4 — «соответствие рекомендаций реальным при текущих вводных». Замер — docs/АУДИТ-ПО-КРИТЕРИЯМ.md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29058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650" b="1">
                <a:solidFill>
                  <a:srgbClr val="FFFFFF"/>
                </a:solidFill>
                <a:latin typeface="Montserrat"/>
              </a:rPr>
              <a:t>ПРЕПОДАВАТЕЛЬ: МАТЕРИАЛ → ЗАНЯТИЕ</a:t>
            </a:r>
          </a:p>
        </p:txBody>
      </p:sp>
      <p:pic>
        <p:nvPicPr>
          <p:cNvPr id="3" name="Picture 2" descr="material-03-по-описанию.png"/>
          <p:cNvPicPr>
            <a:picLocks noChangeAspect="1"/>
          </p:cNvPicPr>
          <p:nvPr/>
        </p:nvPicPr>
        <p:blipFill>
          <a:blip r:embed="rId2"/>
          <a:srcRect l="20000" t="10000" r="35000" b="52000"/>
          <a:stretch>
            <a:fillRect/>
          </a:stretch>
        </p:blipFill>
        <p:spPr>
          <a:xfrm>
            <a:off x="346075" y="1313333"/>
            <a:ext cx="3733333" cy="1773333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346075" y="3280000"/>
            <a:ext cx="3733333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DDD8F5"/>
                </a:solidFill>
                <a:latin typeface="Montserrat"/>
              </a:rPr>
              <a:t>1. По описанию — черновик пишет модель</a:t>
            </a:r>
          </a:p>
        </p:txBody>
      </p:sp>
      <p:pic>
        <p:nvPicPr>
          <p:cNvPr id="5" name="Picture 4" descr="material-02-вызов-вручную.png"/>
          <p:cNvPicPr>
            <a:picLocks noChangeAspect="1"/>
          </p:cNvPicPr>
          <p:nvPr/>
        </p:nvPicPr>
        <p:blipFill>
          <a:blip r:embed="rId3"/>
          <a:srcRect l="20000" r="20000" b="43000"/>
          <a:stretch>
            <a:fillRect/>
          </a:stretch>
        </p:blipFill>
        <p:spPr>
          <a:xfrm>
            <a:off x="4229408" y="1202500"/>
            <a:ext cx="3733333" cy="1994999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4229408" y="3280000"/>
            <a:ext cx="3733333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DDD8F5"/>
                </a:solidFill>
                <a:latin typeface="Montserrat"/>
              </a:rPr>
              <a:t>…или вручную, в той же карточке 112</a:t>
            </a:r>
          </a:p>
        </p:txBody>
      </p:sp>
      <p:pic>
        <p:nvPicPr>
          <p:cNvPr id="7" name="Picture 6" descr="material-05-занятие-выбор.png"/>
          <p:cNvPicPr>
            <a:picLocks noChangeAspect="1"/>
          </p:cNvPicPr>
          <p:nvPr/>
        </p:nvPicPr>
        <p:blipFill>
          <a:blip r:embed="rId4"/>
          <a:srcRect t="3000" r="74000" b="25000"/>
          <a:stretch>
            <a:fillRect/>
          </a:stretch>
        </p:blipFill>
        <p:spPr>
          <a:xfrm>
            <a:off x="9305333" y="1150000"/>
            <a:ext cx="1348148" cy="210000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112741" y="3280000"/>
            <a:ext cx="3733333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DDD8F5"/>
                </a:solidFill>
                <a:latin typeface="Montserrat"/>
              </a:rPr>
              <a:t>2. Занятие: материал поимённо, по порядку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075" y="3700000"/>
            <a:ext cx="5625000" cy="24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6075" y="381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Учебный материал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6075" y="4190000"/>
            <a:ext cx="5325000" cy="191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Вызовы 112 и происшествия ДДС: по описанию моделью или вручную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Эталон служб считает классификатор ЕКП, а не модель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Правка — перепиской или руками; курсантам уходит только утверждённое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Выданное не правится — оценки курсантов не «поедут»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21075" y="3700000"/>
            <a:ext cx="5625000" cy="24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1075" y="381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Занятие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1075" y="4190000"/>
            <a:ext cx="5325000" cy="191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Группа, режим 112 или ДДС, вид: обычное, экзамен (5–10 вызовов подряд), тренировка по частям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Материал — поимённо и по порядку, или по категориям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Пока занятие не начато, курсанты его не видят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Учебный набор: 20 вызовов, 20 происшествий, по 2 экзамена и 2 тренировки на роль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ТЗ, роль преподавателя — «создавать, редактировать и валидировать (утверждать) учебные сценарии, в том числе сгенерированные нейросетью», «назначать учащимся конкретные задания»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4132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ХОД ЗАНЯТИЯ ПО МЕСТАМ</a:t>
            </a:r>
          </a:p>
        </p:txBody>
      </p:sp>
      <p:pic>
        <p:nvPicPr>
          <p:cNvPr id="3" name="Picture 2" descr="01-ход-занятия.png"/>
          <p:cNvPicPr>
            <a:picLocks noChangeAspect="1"/>
          </p:cNvPicPr>
          <p:nvPr/>
        </p:nvPicPr>
        <p:blipFill>
          <a:blip r:embed="rId2"/>
          <a:srcRect b="40000"/>
          <a:stretch>
            <a:fillRect/>
          </a:stretch>
        </p:blipFill>
        <p:spPr>
          <a:xfrm>
            <a:off x="346075" y="1243125"/>
            <a:ext cx="7300000" cy="246375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pic>
        <p:nvPicPr>
          <p:cNvPr id="4" name="Picture 3" descr="01б-ход-занятия-ддс.png"/>
          <p:cNvPicPr>
            <a:picLocks noChangeAspect="1"/>
          </p:cNvPicPr>
          <p:nvPr/>
        </p:nvPicPr>
        <p:blipFill>
          <a:blip r:embed="rId3"/>
          <a:srcRect t="27000" b="38000"/>
          <a:stretch>
            <a:fillRect/>
          </a:stretch>
        </p:blipFill>
        <p:spPr>
          <a:xfrm>
            <a:off x="346075" y="4331406"/>
            <a:ext cx="7300000" cy="1437187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5" name="Rounded Rectangle 4"/>
          <p:cNvSpPr/>
          <p:nvPr/>
        </p:nvSpPr>
        <p:spPr>
          <a:xfrm>
            <a:off x="7896075" y="1150000"/>
            <a:ext cx="3950000" cy="32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075" y="1260000"/>
            <a:ext cx="3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Что видит преподаватель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075" y="1640000"/>
            <a:ext cx="3650000" cy="26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Место — курсант: текущая карточка, таймер против норматива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112: что уже заполнено — заявитель, адрес, тип, опросная карта, службы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ДДС: служба, очередь, статус, «не оповещено»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Опоздавшие — красным, счётчики по занятию сверху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Блоки 112 и ДДС раздельно; режим проектора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96075" y="4500000"/>
            <a:ext cx="3950000" cy="1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075" y="4590000"/>
            <a:ext cx="36500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0053"/>
                </a:solidFill>
                <a:latin typeface="Montserrat"/>
              </a:rPr>
              <a:t>2,5 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075" y="5068790"/>
            <a:ext cx="3650000" cy="10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обновление без перезагрузки; последний балл — на карточке места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ТЗ, роль преподавателя — «контролировать выполнение учебных задач в режиме реального времени», «осуществлять мониторинг выполнения заданий в реальном времени»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24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ВЕСА ОЦЕНКИ: КРИТЕРИИ УСПЕШНОСТИ</a:t>
            </a:r>
          </a:p>
        </p:txBody>
      </p:sp>
      <p:pic>
        <p:nvPicPr>
          <p:cNvPr id="3" name="Picture 2" descr="02-веса-оценки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46075" y="1171875"/>
            <a:ext cx="7300000" cy="410625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4" name="Rounded Rectangle 3"/>
          <p:cNvSpPr/>
          <p:nvPr/>
        </p:nvSpPr>
        <p:spPr>
          <a:xfrm>
            <a:off x="7896075" y="1150000"/>
            <a:ext cx="3950000" cy="27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075" y="1260000"/>
            <a:ext cx="3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считается балл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075" y="1640000"/>
            <a:ext cx="3650000" cy="21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7 групп проверок: время, статусы, комментарии, адрес, тип и службы, полнота, текст; вес каждой 0–5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Выяснил — 1, угадал — ⅔, пусто — ⅓, неверно — 0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1">
                <a:solidFill>
                  <a:srgbClr val="1C1D22"/>
                </a:solidFill>
                <a:latin typeface="Montserrat"/>
              </a:rPr>
              <a:t>Балл = Σ(вес × зачёт) / Σ вес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Похожая, но другая улица — не выше 40: бригада уедет не туда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96075" y="4050000"/>
            <a:ext cx="3950000" cy="21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075" y="4160000"/>
            <a:ext cx="36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Прозрачно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075" y="4540000"/>
            <a:ext cx="3650000" cy="15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Двигаете ползунок — видно «было → стало» по каждому ученику до сохранения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Сохранение пересчитывает сданные попытки и пишется в журнал действий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6075" y="5350000"/>
            <a:ext cx="73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DDD8F5"/>
                </a:solidFill>
                <a:latin typeface="Montserrat"/>
              </a:rPr>
              <a:t>Адрес — вес 5, полнота — 4: средний балл по сданным попыткам пересчитан сразу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ТЗ, роль преподавателя — «настраивать критерии успешности»; ограничение — «изменение результатов обучения (оценок) без фиксации в журнале аудита»; критерии, п. 3 — «дополнительные настраиваемые параметры»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94823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450" b="1">
                <a:solidFill>
                  <a:srgbClr val="FFFFFF"/>
                </a:solidFill>
                <a:latin typeface="Montserrat"/>
              </a:rPr>
              <a:t>ДОПОЛНИТЕЛЬНЫЕ НАСТРАИВАЕМЫЕ ПАРАМЕТРЫ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46075" y="1120000"/>
          <a:ext cx="11500000" cy="46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0000"/>
                <a:gridCol w="4600000"/>
                <a:gridCol w="2500000"/>
                <a:gridCol w="2500000"/>
              </a:tblGrid>
              <a:tr h="290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Группа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Параметр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По умолчанию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ontserrat"/>
                        </a:rPr>
                        <a:t>Пределы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Нормативы ДДС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открыть карточку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30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5–600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первая запись (статус и текст)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3 мин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10 с – 60 мин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перевод в «Не завершено»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48 ч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1–720 ч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Занятие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интервал потока карточек ДДС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60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10–900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марафон; блиц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5–10 вызовов; 3–10 заданий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Бригада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число бригад службы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3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1–10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выезд, прибытие, начало работ, работы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20 / 40 / 20 / 60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5–3600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задержка доклада; статус после доклада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25 с; 30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0–3600; 5–600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Прогноз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допуск попадания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±10 баллов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1–30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глубина истории; регуляризация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5; 0,1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3–20; 0–10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Рекомендации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окно разборов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5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2–20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Аттестация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порог прохождения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70 баллов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1–100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ИИ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движок анализа текста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авто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авто / кросс-энкодер / LLM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живые реплики начальника и заявителя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выкл. на CPU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вкл. / выкл.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29000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адреса моделей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локальные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C1D22"/>
                          </a:solidFill>
                          <a:latin typeface="Montserrat"/>
                        </a:rPr>
                        <a:t>ML_BASE_URL, VOICE_, NLI_BASE_URL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46075" y="5800000"/>
            <a:ext cx="11500000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F3F0FF"/>
                </a:solidFill>
                <a:latin typeface="Montserrat"/>
              </a:rPr>
              <a:t>18 параметров — в таблице настроек, не в коде; значение вне пределов сервер отклоняет. Администратор меняет их на вкладке «Параметры» (или через API), каждое изменение — в журнале действий. Веса оценки — у преподавателя, слайд 17.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критерии финальной экспертизы ТЗ, п. 3 — «реализация дополнительных настраиваемых параметров»; ТЗ, роль преподавателя — «настраивать критерии успешности»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024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АНАЛИТИКА ПО ГРУППЕ И ПО УЧЕНИКУ</a:t>
            </a:r>
          </a:p>
        </p:txBody>
      </p:sp>
      <p:pic>
        <p:nvPicPr>
          <p:cNvPr id="3" name="Picture 2" descr="03-аналитика-группы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98753" y="1150000"/>
            <a:ext cx="5344644" cy="315000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346075" y="4330000"/>
            <a:ext cx="565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DDD8F5"/>
                </a:solidFill>
                <a:latin typeface="Montserrat"/>
              </a:rPr>
              <a:t>Группа: лидеры и отстающие с причиной, типичные ошибки, тепловая карта</a:t>
            </a:r>
          </a:p>
        </p:txBody>
      </p:sp>
      <p:pic>
        <p:nvPicPr>
          <p:cNvPr id="5" name="Picture 4" descr="04-аналитика-ученика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221075" y="1150000"/>
            <a:ext cx="5600000" cy="3150000"/>
          </a:xfrm>
          <a:prstGeom prst="rect">
            <a:avLst/>
          </a:prstGeom>
          <a:ln w="12700">
            <a:solidFill>
              <a:srgbClr val="8A83D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196075" y="4330000"/>
            <a:ext cx="565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DDD8F5"/>
                </a:solidFill>
                <a:latin typeface="Montserrat"/>
              </a:rPr>
              <a:t>Ученик: динамика балла, на чём ошибается, история попыток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6075" y="4700000"/>
            <a:ext cx="5650000" cy="14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6075" y="4810000"/>
            <a:ext cx="53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Почему диаграммам можно верить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6075" y="5190000"/>
            <a:ext cx="5350000" cy="91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Строятся только из сданных попыток; «—» — проверок не было, а не ноль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Доли — с числителем и знаменателем; сводку модели подаются готовые числа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075" y="4700000"/>
            <a:ext cx="5650000" cy="14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6075" y="4810000"/>
            <a:ext cx="53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Что ещё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6075" y="5190000"/>
            <a:ext cx="5350000" cy="91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Отдельно операторы 112 и диспетчеры ДДС; прогноз — рядом с фактом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Честно: проверочные прогоны от учебных попыток пока не отделены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критерии финальной экспертизы, п. 3 — «проверка объективности диаграмм»; ТЗ — «отслеживать прогресс обучения и историю успеваемости», «тепловые карты ошибок»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508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ПОЛНЫЙ КОНТРОЛЬ ПРЕПОДАВАТЕЛЯ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5625000" cy="38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6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Преподаватель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40000"/>
            <a:ext cx="5325000" cy="32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Всё, что делает курсант, выдаёт преподаватель: вызовы, происшествия, экзамены, тренировки по частям (слайд 15)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Ход занятия по местам в реальном времени (слайд 16)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Веса оценки и пересчёт (слайд 17); автоматическая и экспертная оценка рядом, замечания нейросети — подтвердить или отклонить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Аналитика группы и ученика; назначение курсанта на рабочее место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1075" y="1150000"/>
            <a:ext cx="5625000" cy="38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71075" y="1260000"/>
            <a:ext cx="5325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Администратор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1075" y="1640000"/>
            <a:ext cx="5325000" cy="328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Учётные записи и рабочие места курсантов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Блокировка сразу отзывает вход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Удаление — сначала резервная копия, затем обезличивание; оценки остаются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Журнал действий, ежесуточные копии базы, состояние сервера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Экспертных оценок не ставит — это право преподавателя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6075" y="5200000"/>
            <a:ext cx="115000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3F0FF"/>
                </a:solidFill>
                <a:latin typeface="Montserrat"/>
              </a:rPr>
              <a:t>«Дообучать модель» по поправкам преподавателя — честно: </a:t>
            </a:r>
            <a:r>
              <a:rPr sz="1200" b="0">
                <a:solidFill>
                  <a:srgbClr val="F3F0FF"/>
                </a:solidFill>
                <a:latin typeface="Montserrat"/>
              </a:rPr>
              <a:t>правки идут в сценарий и в контекст модели при следующей подготовке, веса не меняются. Как должны вноситься поправки, заказчик переспросил в том же ответе (чат № 781).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ТЗ, роли преподавателя и администратора: «автоматическая оценка И экспертная оценка», «запрет изменения оценок во время активного занятия»; чат № 781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680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ЗАКРЫТЫЙ КОНТУР И ЖЕЛЕЗО ИЗ ТЗ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11500000" cy="800000"/>
          </a:xfrm>
          <a:prstGeom prst="roundRect">
            <a:avLst>
              <a:gd name="adj" fmla="val 6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46075" y="1150000"/>
            <a:ext cx="55000" cy="800000"/>
          </a:xfrm>
          <a:prstGeom prst="rect">
            <a:avLst/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26075" y="1240000"/>
            <a:ext cx="11200000" cy="6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10F53"/>
                </a:solidFill>
                <a:latin typeface="Montserrat"/>
              </a:rPr>
              <a:t>«в самом решении должна быть возможность прописать, куда обращаться к модели, если она будет не во вне, а локально»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310F53"/>
                </a:solidFill>
                <a:latin typeface="Montserrat"/>
              </a:rPr>
              <a:t>— организатор, чат № 746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46075" y="2100000"/>
          <a:ext cx="11500000" cy="22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0000"/>
                <a:gridCol w="4200000"/>
                <a:gridCol w="4200000"/>
              </a:tblGrid>
              <a:tr h="44000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ontserrat"/>
                        </a:rPr>
                        <a:t>CPU — как в ТЗ: i7/Xeon от 6 ядер, 32 ГБ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ontserrat"/>
                        </a:rPr>
                        <a:t>GPU — если заказчик выделит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</a:tr>
              <a:tr h="44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Языковая модель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GigaChat 3.1 10B-A1.8B, llama.cpp + MTP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Gemma 4 26B-A4B, INT4, vLLM, одна RTX 4090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Сверка описания с фактами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кросс-энкодер OpenJEV 4B, 91 %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Gemma 4, 94 %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44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Голос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GigaAM-v3 и TeraTTSv2 на процессоре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то же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Живые реплики начальника и заявителя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выключены — медленно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включены; реплика заявителя 0,5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46075" y="4550000"/>
            <a:ext cx="11500000" cy="1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F3F0FF"/>
                </a:solidFill>
                <a:latin typeface="Montserrat"/>
              </a:rPr>
              <a:t>Внешних обращений нет. </a:t>
            </a:r>
            <a:r>
              <a:rPr sz="1200" b="0">
                <a:solidFill>
                  <a:srgbClr val="F3F0FF"/>
                </a:solidFill>
                <a:latin typeface="Montserrat"/>
              </a:rPr>
              <a:t>Все модели работают внутри контура; адрес каждой — одна переменная (ML_BASE_URL, VOICE_BASE_URL, NLI_BASE_URL).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F3F0FF"/>
                </a:solidFill>
                <a:latin typeface="Montserrat"/>
              </a:rPr>
              <a:t>Развёртывание одной командой </a:t>
            </a:r>
            <a:r>
              <a:rPr sz="1200" b="0">
                <a:solidFill>
                  <a:srgbClr val="F3F0FF"/>
                </a:solidFill>
                <a:latin typeface="Montserrat"/>
              </a:rPr>
              <a:t>deploy/up.sh (docker compose), HTTPS — браузер даёт микрофон только защищённой странице.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F3F0FF"/>
                </a:solidFill>
                <a:latin typeface="Montserrat"/>
              </a:rPr>
              <a:t>Честно о замерах: </a:t>
            </a:r>
            <a:r>
              <a:rPr sz="1200" b="0">
                <a:solidFill>
                  <a:srgbClr val="F3F0FF"/>
                </a:solidFill>
                <a:latin typeface="Montserrat"/>
              </a:rPr>
              <a:t>CPU мерили на EPYC 7532 (6 потоков, 8 каналов памяти) — это потолок; на настольном i7 будет медленнее, там не мерили.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ТЗ — «без доступа к внешним сетям», системные требования к серверу ИИ; чат № 710, 746 (адрес локальной модели), 23.09 (видеокарта — «если нужно будет»)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3100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СКОРОСТЬ РАБОТЫ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46075" y="1150000"/>
          <a:ext cx="11000000" cy="29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00000"/>
                <a:gridCol w="3000000"/>
                <a:gridCol w="3000000"/>
              </a:tblGrid>
              <a:tr h="420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Задача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CPU: GigaChat 3.1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GPU: Gemma 4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Генерация, токенов в секунду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14,8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170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Подготовка учебного вызова по билету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94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3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Анализ описания курсанта с цитатами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26–33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2,3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Разбор доклада начальнику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20,8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1,3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Сверка описания с фактами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4,9 с (кросс-энкодер)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0,45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Понять вопрос заявителю своими словами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1,7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0,13 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346075" y="4300000"/>
            <a:ext cx="3733333" cy="15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6075" y="4390000"/>
            <a:ext cx="3433333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0053"/>
                </a:solidFill>
                <a:latin typeface="Montserrat"/>
              </a:rPr>
              <a:t>+44 %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6075" y="4868790"/>
            <a:ext cx="3433333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скорость GigaChat на процессоре от MTP — поддержку добавили в llama.cpp сами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29408" y="4300000"/>
            <a:ext cx="3733333" cy="15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79408" y="4390000"/>
            <a:ext cx="3433333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0053"/>
                </a:solidFill>
                <a:latin typeface="Montserrat"/>
              </a:rPr>
              <a:t>сразу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9408" y="4868790"/>
            <a:ext cx="3433333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разбор правилами — модель интерфейс не держит, анализ приходит следом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2741" y="4300000"/>
            <a:ext cx="3733333" cy="15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2741" y="4390000"/>
            <a:ext cx="3433333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0053"/>
                </a:solidFill>
                <a:latin typeface="Montserrat"/>
              </a:rPr>
              <a:t>p99 0,27 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62741" y="4868790"/>
            <a:ext cx="3433333" cy="8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отклик интерфейса при 100 пользователях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критерии ТЗ: п. 2 — «скорость работы решения»; финальная, п. 3 — «скорость и удобство работы». Замеры — сопроводительная документация, 6.2–6.3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120117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350" b="1">
                <a:solidFill>
                  <a:srgbClr val="FFFFFF"/>
                </a:solidFill>
                <a:latin typeface="Montserrat"/>
              </a:rPr>
              <a:t>НЕФУНКЦИОНАЛЬНЫЕ ТРЕБОВАНИЯ ТЗ — ИЗМЕРЕНО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46075" y="1150000"/>
          <a:ext cx="11500000" cy="4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00000"/>
                <a:gridCol w="7200000"/>
              </a:tblGrid>
              <a:tr h="50000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ontserrat"/>
                        </a:rPr>
                        <a:t>Требование ТЗ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ontserrat"/>
                        </a:rPr>
                        <a:t>Измерено</a:t>
                      </a:r>
                    </a:p>
                  </a:txBody>
                  <a:tcPr marL="80000" marR="80000" marT="25000" marB="25000" anchor="ctr">
                    <a:solidFill>
                      <a:srgbClr val="310F53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Отклик интерфейса ≤ 2 с при 100 пользователях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максимум 0,69 с, p99 0,18 с; без пауз, 1783 запроса/с — p99 0,27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Не менее 20 одновременных сессий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50 вызовов разом — все дошли до разбора; 80 разом — все, до 2,2 с на вызов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Сбой сети до 30 с без потери данных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правки без сети — в базе через 0,1 с после её возврата; канал событий — сразу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Запись в БД ≥ 100 операций/с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1516 правок карточки в секунду, p99 41 мс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Отчёт ≤ 30 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по группе 0,56–0,71 с, и 0,65 с при 176 задачах модели в очереди; по вызову 7–11 мс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Резервное копирование раз в сутки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ежесуточная копия базы с ротацией</a:t>
                      </a:r>
                    </a:p>
                  </a:txBody>
                  <a:tcPr marL="80000" marR="80000" marT="25000" marB="25000" anchor="ctr">
                    <a:solidFill>
                      <a:srgbClr val="F3F0FA"/>
                    </a:solidFill>
                  </a:tcPr>
                </a:tc>
              </a:tr>
              <a:tr h="5000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Передача голоса ≤ 150 мс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не мерили: SIP нет, программная эмуляция — заказчик: «достаточно»</a:t>
                      </a:r>
                    </a:p>
                  </a:txBody>
                  <a:tcPr marL="80000" marR="80000" marT="25000" marB="25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46075" y="5400000"/>
            <a:ext cx="11500000" cy="7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3F0FF"/>
                </a:solidFill>
                <a:latin typeface="Montserrat"/>
              </a:rPr>
              <a:t>Сервер и база ограничены 6 ядрами и 32 ГБ, как сервер из ТЗ; процессор — EPYC 7532, не машина заказчика. Замеры нашли четыре узких места, в том числе отчёт в очереди за моделью, — исправлены до сдачи.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ТЗ, раздел нефункциональных требований (§7); чат № 781 (телефония — программная эмуляция). Методика и сырые данные — backend/docs/замеры/НАГРУЗКА.md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164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ИНТЕГРАЦИЯ В ДРУГИЕ СИСТЕМЫ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37000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6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Открытый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40000"/>
            <a:ext cx="3400000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REST, 92 операции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Описание OpenAPI — /api/docs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Тест сверяет описание с кодом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46075" y="1150000"/>
            <a:ext cx="37000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96075" y="126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Модели по стандарту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96075" y="1640000"/>
            <a:ext cx="3400000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Протокол OpenAI: llama.cpp, vLLM, Ollama — без правки кода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Голос и сверка — отдельные HTTP-сервисы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46075" y="1150000"/>
            <a:ext cx="37000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6075" y="126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Данные заказчика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96075" y="1640000"/>
            <a:ext cx="3400000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Классификатор ЕКП грузится из XLSX как есть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Версии классификатора и разница между ними — через API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Службы и типы — по кадрам ваших материалов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075" y="3650000"/>
            <a:ext cx="37000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075" y="376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Выгрузка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6075" y="4140000"/>
            <a:ext cx="3400000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Отчёт по вызову — JSON и CSV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Отчёт по группе — JSON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46075" y="3650000"/>
            <a:ext cx="37000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6075" y="376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Развёртывание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96075" y="4140000"/>
            <a:ext cx="3400000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docker compose, одна команда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Свой сертификат или самоподписанный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46075" y="3650000"/>
            <a:ext cx="3700000" cy="2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6075" y="3760000"/>
            <a:ext cx="340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0053"/>
                </a:solidFill>
                <a:latin typeface="Montserrat"/>
              </a:rPr>
              <a:t>Честно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6075" y="4140000"/>
            <a:ext cx="3400000" cy="1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250" b="0">
                <a:solidFill>
                  <a:srgbClr val="1C1D22"/>
                </a:solidFill>
                <a:latin typeface="Montserrat"/>
              </a:rPr>
              <a:t>Вход — свои учётные записи; локальная система доступа (LDAP/AD) не подключена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критерии ТЗ, п. 2 — «возможность интеграции в любые другие системы»; ТЗ — «отдельный сервис», «интеграция с форматами данных ГБУ „Система 112“»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336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КАЧЕСТВО КОДА И ДОКУМЕНТАЦИЯ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2762500" cy="14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40000"/>
            <a:ext cx="24625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400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81960"/>
            <a:ext cx="2462500" cy="7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серверных проверок — все зелёные; ещё 3 на настоящих моделях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58575" y="1150000"/>
            <a:ext cx="2762500" cy="14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08575" y="1240000"/>
            <a:ext cx="24625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102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08575" y="1681960"/>
            <a:ext cx="2462500" cy="7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сценария в браузере (Playwright)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1075" y="1150000"/>
            <a:ext cx="2762500" cy="14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1075" y="1240000"/>
            <a:ext cx="24625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24,7 тыс.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1075" y="1681960"/>
            <a:ext cx="2462500" cy="7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строк Rust + 10,4 тыс. строк тестов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83575" y="1150000"/>
            <a:ext cx="2762500" cy="14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3575" y="1240000"/>
            <a:ext cx="2462500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  <a:latin typeface="Montserrat"/>
              </a:rPr>
              <a:t>10 тыс.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3575" y="1681960"/>
            <a:ext cx="2462500" cy="7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строк TypeScript, React 19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6075" y="2800000"/>
            <a:ext cx="5650000" cy="3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6075" y="2910000"/>
            <a:ext cx="53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Как пишем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075" y="3290000"/>
            <a:ext cx="5350000" cy="2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Тесты на отдельной базе — стенд не засоряется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Описание API сверяется с кодом тестом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Комментарии объясняют «почему», а не «что»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40 миграций базы, без ручных правок схемы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Открытый код без обфускации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6075" y="2800000"/>
            <a:ext cx="5650000" cy="3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6075" y="2910000"/>
            <a:ext cx="53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Что приложено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6075" y="3290000"/>
            <a:ext cx="5350000" cy="27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Сопроводительная документация — PDF и DOCX: методы, ограничения, сборка, архитектура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PROVENANCE.md — откуда каждый справочник и каждая цифра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OPEN-QUESTIONS.md — все допущения и чего не хватило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100" b="0">
                <a:solidFill>
                  <a:srgbClr val="1C1D22"/>
                </a:solidFill>
                <a:latin typeface="Montserrat"/>
              </a:rPr>
              <a:t>backend/docs/замеры — методика и сырые данные замеров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критерии ТЗ: п. 2 — «качество кода»; п. 4 — «полнота сопроводительной документации»; ТЗ — открытый код, перечень библиотек, комментарии к сложному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3960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ОГРАНИЧЕНИЯ — ЧЕСТНО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115000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6075" y="1300000"/>
            <a:ext cx="111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Службы только по типу происшествия. </a:t>
            </a:r>
            <a:r>
              <a:rPr sz="1200" b="0">
                <a:solidFill>
                  <a:srgbClr val="1C1D22"/>
                </a:solidFill>
                <a:latin typeface="Montserrat"/>
              </a:rPr>
              <a:t>Заказчик: службы ещё и по району и подчинённости, но «справочников нет в природе» (чат № 690, 781).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6075" y="1950000"/>
            <a:ext cx="115000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6075" y="2100000"/>
            <a:ext cx="111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Веса модели не дообучаются. </a:t>
            </a:r>
            <a:r>
              <a:rPr sz="1200" b="0">
                <a:solidFill>
                  <a:srgbClr val="1C1D22"/>
                </a:solidFill>
                <a:latin typeface="Montserrat"/>
              </a:rPr>
              <a:t>Правки преподавателя идут в сценарий и контекст; механизм поправок заказчик уточняет (чат № 781).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6075" y="2750000"/>
            <a:ext cx="115000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6075" y="2900000"/>
            <a:ext cx="111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Скорость на i7 не мерили. </a:t>
            </a:r>
            <a:r>
              <a:rPr sz="1200" b="0">
                <a:solidFill>
                  <a:srgbClr val="1C1D22"/>
                </a:solidFill>
                <a:latin typeface="Montserrat"/>
              </a:rPr>
              <a:t>CPU-замеры — на EPYC 7532 с 8 каналами памяти.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075" y="3550000"/>
            <a:ext cx="115000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6075" y="3700000"/>
            <a:ext cx="111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Эталонная версия классификатора не определена. </a:t>
            </a:r>
            <a:r>
              <a:rPr sz="1200" b="0">
                <a:solidFill>
                  <a:srgbClr val="1C1D22"/>
                </a:solidFill>
                <a:latin typeface="Montserrat"/>
              </a:rPr>
              <a:t>v046_24 или v046_11 — заказчик обещал ответить; активна v046_24.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075" y="4350000"/>
            <a:ext cx="115000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6075" y="4500000"/>
            <a:ext cx="111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ДДС не сообщает в 112 об ошибке в карточке. </a:t>
            </a:r>
            <a:r>
              <a:rPr sz="1200" b="0">
                <a:solidFill>
                  <a:srgbClr val="1C1D22"/>
                </a:solidFill>
                <a:latin typeface="Montserrat"/>
              </a:rPr>
              <a:t>Эталонных примеров ошибок заказчик не дал.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6075" y="5150000"/>
            <a:ext cx="11500000" cy="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6075" y="5300000"/>
            <a:ext cx="111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C1D22"/>
                </a:solidFill>
                <a:latin typeface="Montserrat"/>
              </a:rPr>
              <a:t>Прогноз и рекомендации проверены на синтетике. </a:t>
            </a:r>
            <a:r>
              <a:rPr sz="1200" b="0">
                <a:solidFill>
                  <a:srgbClr val="1C1D22"/>
                </a:solidFill>
                <a:latin typeface="Montserrat"/>
              </a:rPr>
              <a:t>Прогноз пока ≈ простому среднему (10,7 против 10,9); польза рекомендаций не доказана — нужна живая группа.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075" y="6300000"/>
            <a:ext cx="109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FC8F4"/>
                </a:solidFill>
                <a:latin typeface="Montserrat"/>
              </a:rPr>
              <a:t>Требование: </a:t>
            </a:r>
            <a:r>
              <a:rPr sz="900" b="0">
                <a:solidFill>
                  <a:srgbClr val="CFC8F4"/>
                </a:solidFill>
                <a:latin typeface="Montserrat"/>
              </a:rPr>
              <a:t>чат № 690, 781; OPEN-QUESTIONS.md — полный список допущений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3100000" cy="560000"/>
          </a:xfrm>
          <a:prstGeom prst="roundRect">
            <a:avLst>
              <a:gd name="adj" fmla="val 2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0000" rIns="200000" wrap="none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ПРОВЕРИТЬ САМИМ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150000"/>
            <a:ext cx="5650000" cy="38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6075" y="1260000"/>
            <a:ext cx="53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Ссылки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6075" y="1640000"/>
            <a:ext cx="5350000" cy="32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400" b="0">
                <a:solidFill>
                  <a:srgbClr val="1C1D22"/>
                </a:solidFill>
                <a:latin typeface="Montserrat"/>
              </a:rPr>
              <a:t>Репозиторий: [ЗАПОЛНИТЬ: ссылка]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400" b="0">
                <a:solidFill>
                  <a:srgbClr val="1C1D22"/>
                </a:solidFill>
                <a:latin typeface="Montserrat"/>
              </a:rPr>
              <a:t>Стенд: [ЗАПОЛНИТЬ: ссылка]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400" b="0">
                <a:solidFill>
                  <a:srgbClr val="1C1D22"/>
                </a:solidFill>
                <a:latin typeface="Montserrat"/>
              </a:rPr>
              <a:t>Документация: docs/документация.pdf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400" b="0">
                <a:solidFill>
                  <a:srgbClr val="1C1D22"/>
                </a:solidFill>
                <a:latin typeface="Montserrat"/>
              </a:rPr>
              <a:t>Демо-ролик: [ЗАПОЛНИТЬ: ссылка]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6075" y="1150000"/>
            <a:ext cx="5650000" cy="38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46075" y="1260000"/>
            <a:ext cx="5350000" cy="3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10F53"/>
                </a:solidFill>
                <a:latin typeface="Montserrat"/>
              </a:rPr>
              <a:t>Учётные записи, пароль arm112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6075" y="1640000"/>
            <a:ext cx="5350000" cy="323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admin — администратор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teacher1 — преподаватель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op01…op05, op06…op10 — операторы 112, две группы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dds01…dds05 — диспетчеры ДДС: Служба 101, 104, 103, ЦОДД, Мослифт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F0053"/>
                </a:solidFill>
                <a:latin typeface="Montserrat"/>
              </a:rPr>
              <a:t>•  </a:t>
            </a:r>
            <a:r>
              <a:rPr sz="1300" b="0">
                <a:solidFill>
                  <a:srgbClr val="1C1D22"/>
                </a:solidFill>
                <a:latin typeface="Montserrat"/>
              </a:rPr>
              <a:t>dds06…dds10 — то же, пятый — Деп. ЖКХ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6075" y="5150000"/>
            <a:ext cx="115000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3F0FF"/>
                </a:solidFill>
                <a:latin typeface="Montserrat"/>
              </a:rPr>
              <a:t>Дальше: </a:t>
            </a:r>
            <a:r>
              <a:rPr sz="1300" b="0">
                <a:solidFill>
                  <a:srgbClr val="F3F0FF"/>
                </a:solidFill>
                <a:latin typeface="Montserrat"/>
              </a:rPr>
              <a:t>подбор служб по территории — после справочника заказчика; сверка анализа нейросети с оценками преподавателей на живой группе; SIP-телефония.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